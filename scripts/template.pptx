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3" r:id="rId3"/>
    <p:sldId id="277" r:id="rId4"/>
    <p:sldId id="270" r:id="rId5"/>
    <p:sldId id="272" r:id="rId6"/>
    <p:sldId id="261" r:id="rId7"/>
    <p:sldId id="262" r:id="rId8"/>
    <p:sldId id="269" r:id="rId9"/>
    <p:sldId id="275" r:id="rId10"/>
    <p:sldId id="266" r:id="rId11"/>
    <p:sldId id="267" r:id="rId12"/>
    <p:sldId id="268" r:id="rId13"/>
    <p:sldId id="265" r:id="rId14"/>
    <p:sldId id="264" r:id="rId15"/>
    <p:sldId id="276" r:id="rId16"/>
    <p:sldId id="273" r:id="rId17"/>
    <p:sldId id="274" r:id="rId18"/>
    <p:sldId id="279" r:id="rId19"/>
    <p:sldId id="278" r:id="rId20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FFF00"/>
    <a:srgbClr val="B3B3B3"/>
    <a:srgbClr val="E2F0D9"/>
    <a:srgbClr val="D6DCE5"/>
    <a:srgbClr val="FFD966"/>
    <a:srgbClr val="FFF2CC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02" autoAdjust="0"/>
    <p:restoredTop sz="95640" autoAdjust="0"/>
  </p:normalViewPr>
  <p:slideViewPr>
    <p:cSldViewPr snapToGrid="0">
      <p:cViewPr varScale="1">
        <p:scale>
          <a:sx n="152" d="100"/>
          <a:sy n="152" d="100"/>
        </p:scale>
        <p:origin x="8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4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26E947F8-4C92-4FD4-874C-86EB7FBFDD75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2" y="9721108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4" y="9721108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2F6307C-E322-4A6C-9C93-7B05FDF3B2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41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6307C-E322-4A6C-9C93-7B05FDF3B2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8921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6307C-E322-4A6C-9C93-7B05FDF3B2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7718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6307C-E322-4A6C-9C93-7B05FDF3B25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034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6307C-E322-4A6C-9C93-7B05FDF3B2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8402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6307C-E322-4A6C-9C93-7B05FDF3B25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6186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6307C-E322-4A6C-9C93-7B05FDF3B25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4504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6307C-E322-4A6C-9C93-7B05FDF3B25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538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6307C-E322-4A6C-9C93-7B05FDF3B25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8412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6307C-E322-4A6C-9C93-7B05FDF3B25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3652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6307C-E322-4A6C-9C93-7B05FDF3B252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9511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6307C-E322-4A6C-9C93-7B05FDF3B252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24103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6307C-E322-4A6C-9C93-7B05FDF3B252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0753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6307C-E322-4A6C-9C93-7B05FDF3B252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6962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5E0CD2-7985-72F5-44AF-827CE5915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85004E6-F5A8-E946-5EFD-56C8223D5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D1A591-E928-13D7-BB35-1F53156A6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0B2B-8783-41E4-90BD-B0D207B907B5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BA6284-4219-069B-BA0B-0CCF66C60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FA3CC9-4F79-6DF8-72C5-B0680A1C3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7A54-B176-42D0-B62E-8C4390F0B0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8870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C546E0-EAA9-05E8-65F7-4E6159AF6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F41288-72D5-74F3-C7E2-C683D0FAC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C822E6-86A6-28DF-9A1D-C1748D6A6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0B2B-8783-41E4-90BD-B0D207B907B5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7175FE-78EA-1DF3-CEF5-C118CE889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684E22-67D4-23A8-BF68-F07CBB1D4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7A54-B176-42D0-B62E-8C4390F0B0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0232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C96D4B-FE37-D3DA-D811-560212213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9DB8D21-C8ED-EB94-0172-E5CFCC070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97AA7E-8D27-705E-9746-0C2804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0B2B-8783-41E4-90BD-B0D207B907B5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7C92AF-48A8-8149-9705-7FBC580DC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6DB1EF-C1F1-F677-1611-2C49B693E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7A54-B176-42D0-B62E-8C4390F0B0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6516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225052-3944-21C0-4FB8-974DA0E29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251463-2B15-8BEB-B49B-27B5665295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B721FCD-7180-8348-675E-8FBC84208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392A1E-DA98-5021-776F-9F69E4382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0B2B-8783-41E4-90BD-B0D207B907B5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9549F7D-1112-1548-5C56-5712738AD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92CB5D2-8BDD-A006-693B-3A300FAFE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7A54-B176-42D0-B62E-8C4390F0B0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1596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F79708-5F24-DBB9-F752-80D9819E2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4A0F05C-CDD7-C065-BB69-D5FD0C049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5BA550E-296A-907C-6C7B-CBFD33B43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8720990-32F9-B925-F054-C68A5727E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45D33FA-8332-C31F-8EA0-CF968A55A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6740B43-BE2C-8149-C76F-9F1ABCF62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0B2B-8783-41E4-90BD-B0D207B907B5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57D84B-AAC2-FC0E-1888-F0B33837F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13EA7EC-DBBA-CDCC-8573-BCB9E8DBB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7A54-B176-42D0-B62E-8C4390F0B0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6445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54F2B8-73B6-3DE5-D7F3-A2AFF90B2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6CE0DEC-7181-5518-1F7D-914DD948E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0B2B-8783-41E4-90BD-B0D207B907B5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731D1B3-95AD-8F59-89FC-5E5970ED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AF04246-34C2-B1A1-976E-36472156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7A54-B176-42D0-B62E-8C4390F0B0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0433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A221844-CED4-A1BB-892E-A17B7C6D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0B2B-8783-41E4-90BD-B0D207B907B5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A834FD7-3E1E-E4C6-7196-9E1EC773C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1B858D-0A1C-B06B-6C8A-4905AF28D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7A54-B176-42D0-B62E-8C4390F0B0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4984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41F19B-AF60-5A30-F6DB-55A0A7249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E6C1C0-C2C9-605E-19B5-AEF18C0D0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9341C31-92B3-3A59-177F-902BD916B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07D8DB-A58B-33C5-3544-1D7BD95A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0B2B-8783-41E4-90BD-B0D207B907B5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4B42851-CCAA-40A0-112C-FDF784A9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6234751-11E7-8A47-25CD-DB0398D00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7A54-B176-42D0-B62E-8C4390F0B0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066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1EB8CB-728A-9F97-7F31-55EC59093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293F61A-6DB7-7589-86A4-6BBF094A68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C994BB6-D0B6-8C0D-BF07-FF7597926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1C5E8D3-C5EF-3960-69E3-5617EB29D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0B2B-8783-41E4-90BD-B0D207B907B5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E2F8DC3-EA70-F9D4-EB15-B4CB2178B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6CB0CD0-D6A2-FD60-F58F-561A6BEA2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7A54-B176-42D0-B62E-8C4390F0B0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5864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2D5393-CFA0-9B7A-805E-04E476455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4DC5285-C705-A41D-E61F-27CED5675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F13A564-481E-B107-490D-D7CD2667E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0B2B-8783-41E4-90BD-B0D207B907B5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329976-2C51-D2A6-A375-D7A134785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9C55B2-94CB-5357-6778-F54DAB542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7A54-B176-42D0-B62E-8C4390F0B0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140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77668ED-B69B-18DB-C9DB-E1DBADC868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30728A6-076F-3907-02CA-3BEC2BE04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5608B6-D971-1A76-EB93-3636876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0B2B-8783-41E4-90BD-B0D207B907B5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A8618A-7B02-1D4C-3A31-EDDC6E7D9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0C2356-1F3C-CFB4-4D9A-C179D22BF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7A54-B176-42D0-B62E-8C4390F0B0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017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9842BB3-8A31-BD1F-40C6-F5E94750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C49D22-2DD3-6886-C99B-028FE4A43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6B9075-BE4A-5B26-6C96-D970150226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80B2B-8783-41E4-90BD-B0D207B907B5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6ACB9C-FAE5-6B9E-2AD6-D7CD6931B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E4A338-57C3-A6F3-710E-C1C7687CBD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57A54-B176-42D0-B62E-8C4390F0B0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2012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>
            <a:extLst>
              <a:ext uri="{FF2B5EF4-FFF2-40B4-BE49-F238E27FC236}">
                <a16:creationId xmlns:a16="http://schemas.microsoft.com/office/drawing/2014/main" id="{126397F6-A86D-4C7B-EFFC-3914E1D477AF}"/>
              </a:ext>
            </a:extLst>
          </p:cNvPr>
          <p:cNvGrpSpPr/>
          <p:nvPr/>
        </p:nvGrpSpPr>
        <p:grpSpPr>
          <a:xfrm>
            <a:off x="-1" y="0"/>
            <a:ext cx="9209928" cy="6335712"/>
            <a:chOff x="-1" y="0"/>
            <a:chExt cx="9209928" cy="6335712"/>
          </a:xfrm>
        </p:grpSpPr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6405170C-3469-85B5-82E3-557DAE17BE1C}"/>
                </a:ext>
              </a:extLst>
            </p:cNvPr>
            <p:cNvGrpSpPr/>
            <p:nvPr/>
          </p:nvGrpSpPr>
          <p:grpSpPr>
            <a:xfrm>
              <a:off x="1987973" y="1396999"/>
              <a:ext cx="6808893" cy="4368801"/>
              <a:chOff x="193040" y="0"/>
              <a:chExt cx="10891519" cy="6832508"/>
            </a:xfrm>
          </p:grpSpPr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967777A6-71EC-46CC-083E-D0FF5D616B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9732" t="3324" r="10192" b="2219"/>
              <a:stretch>
                <a:fillRect/>
              </a:stretch>
            </p:blipFill>
            <p:spPr>
              <a:xfrm rot="16200000">
                <a:off x="2222546" y="-2029506"/>
                <a:ext cx="6832508" cy="10891519"/>
              </a:xfrm>
              <a:prstGeom prst="rect">
                <a:avLst/>
              </a:prstGeom>
            </p:spPr>
          </p:pic>
          <p:sp>
            <p:nvSpPr>
              <p:cNvPr id="8" name="手繪多邊形: 圖案 7">
                <a:extLst>
                  <a:ext uri="{FF2B5EF4-FFF2-40B4-BE49-F238E27FC236}">
                    <a16:creationId xmlns:a16="http://schemas.microsoft.com/office/drawing/2014/main" id="{E89C8A4D-8F64-5136-5EDA-BE10756F0B64}"/>
                  </a:ext>
                </a:extLst>
              </p:cNvPr>
              <p:cNvSpPr/>
              <p:nvPr/>
            </p:nvSpPr>
            <p:spPr>
              <a:xfrm>
                <a:off x="299720" y="3225800"/>
                <a:ext cx="3210560" cy="3307080"/>
              </a:xfrm>
              <a:custGeom>
                <a:avLst/>
                <a:gdLst>
                  <a:gd name="connsiteX0" fmla="*/ 3210560 w 3210560"/>
                  <a:gd name="connsiteY0" fmla="*/ 584200 h 3307080"/>
                  <a:gd name="connsiteX1" fmla="*/ 1762760 w 3210560"/>
                  <a:gd name="connsiteY1" fmla="*/ 568960 h 3307080"/>
                  <a:gd name="connsiteX2" fmla="*/ 1767840 w 3210560"/>
                  <a:gd name="connsiteY2" fmla="*/ 0 h 3307080"/>
                  <a:gd name="connsiteX3" fmla="*/ 401320 w 3210560"/>
                  <a:gd name="connsiteY3" fmla="*/ 20320 h 3307080"/>
                  <a:gd name="connsiteX4" fmla="*/ 401320 w 3210560"/>
                  <a:gd name="connsiteY4" fmla="*/ 741680 h 3307080"/>
                  <a:gd name="connsiteX5" fmla="*/ 299720 w 3210560"/>
                  <a:gd name="connsiteY5" fmla="*/ 731520 h 3307080"/>
                  <a:gd name="connsiteX6" fmla="*/ 299720 w 3210560"/>
                  <a:gd name="connsiteY6" fmla="*/ 1295400 h 3307080"/>
                  <a:gd name="connsiteX7" fmla="*/ 0 w 3210560"/>
                  <a:gd name="connsiteY7" fmla="*/ 1300480 h 3307080"/>
                  <a:gd name="connsiteX8" fmla="*/ 15240 w 3210560"/>
                  <a:gd name="connsiteY8" fmla="*/ 2372360 h 3307080"/>
                  <a:gd name="connsiteX9" fmla="*/ 325120 w 3210560"/>
                  <a:gd name="connsiteY9" fmla="*/ 2387600 h 3307080"/>
                  <a:gd name="connsiteX10" fmla="*/ 325120 w 3210560"/>
                  <a:gd name="connsiteY10" fmla="*/ 3093720 h 3307080"/>
                  <a:gd name="connsiteX11" fmla="*/ 1625600 w 3210560"/>
                  <a:gd name="connsiteY11" fmla="*/ 3108960 h 3307080"/>
                  <a:gd name="connsiteX12" fmla="*/ 1635760 w 3210560"/>
                  <a:gd name="connsiteY12" fmla="*/ 3307080 h 3307080"/>
                  <a:gd name="connsiteX13" fmla="*/ 2768600 w 3210560"/>
                  <a:gd name="connsiteY13" fmla="*/ 3296920 h 3307080"/>
                  <a:gd name="connsiteX14" fmla="*/ 2763520 w 3210560"/>
                  <a:gd name="connsiteY14" fmla="*/ 1148080 h 3307080"/>
                  <a:gd name="connsiteX15" fmla="*/ 3195320 w 3210560"/>
                  <a:gd name="connsiteY15" fmla="*/ 1153160 h 3307080"/>
                  <a:gd name="connsiteX16" fmla="*/ 3210560 w 3210560"/>
                  <a:gd name="connsiteY16" fmla="*/ 584200 h 330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210560" h="3307080">
                    <a:moveTo>
                      <a:pt x="3210560" y="584200"/>
                    </a:moveTo>
                    <a:lnTo>
                      <a:pt x="1762760" y="568960"/>
                    </a:lnTo>
                    <a:cubicBezTo>
                      <a:pt x="1764453" y="379307"/>
                      <a:pt x="1766147" y="189653"/>
                      <a:pt x="1767840" y="0"/>
                    </a:cubicBezTo>
                    <a:lnTo>
                      <a:pt x="401320" y="20320"/>
                    </a:lnTo>
                    <a:lnTo>
                      <a:pt x="401320" y="741680"/>
                    </a:lnTo>
                    <a:lnTo>
                      <a:pt x="299720" y="731520"/>
                    </a:lnTo>
                    <a:lnTo>
                      <a:pt x="299720" y="1295400"/>
                    </a:lnTo>
                    <a:lnTo>
                      <a:pt x="0" y="1300480"/>
                    </a:lnTo>
                    <a:lnTo>
                      <a:pt x="15240" y="2372360"/>
                    </a:lnTo>
                    <a:lnTo>
                      <a:pt x="325120" y="2387600"/>
                    </a:lnTo>
                    <a:lnTo>
                      <a:pt x="325120" y="3093720"/>
                    </a:lnTo>
                    <a:lnTo>
                      <a:pt x="1625600" y="3108960"/>
                    </a:lnTo>
                    <a:lnTo>
                      <a:pt x="1635760" y="3307080"/>
                    </a:lnTo>
                    <a:lnTo>
                      <a:pt x="2768600" y="3296920"/>
                    </a:lnTo>
                    <a:cubicBezTo>
                      <a:pt x="2766907" y="2580640"/>
                      <a:pt x="2765213" y="1864360"/>
                      <a:pt x="2763520" y="1148080"/>
                    </a:cubicBezTo>
                    <a:lnTo>
                      <a:pt x="3195320" y="1153160"/>
                    </a:lnTo>
                    <a:lnTo>
                      <a:pt x="3210560" y="584200"/>
                    </a:lnTo>
                    <a:close/>
                  </a:path>
                </a:pathLst>
              </a:custGeom>
              <a:solidFill>
                <a:srgbClr val="7030A0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9" name="手繪多邊形: 圖案 8">
                <a:extLst>
                  <a:ext uri="{FF2B5EF4-FFF2-40B4-BE49-F238E27FC236}">
                    <a16:creationId xmlns:a16="http://schemas.microsoft.com/office/drawing/2014/main" id="{B3735CC7-5221-A5A0-D3C9-8ADA22EB2199}"/>
                  </a:ext>
                </a:extLst>
              </p:cNvPr>
              <p:cNvSpPr/>
              <p:nvPr/>
            </p:nvSpPr>
            <p:spPr>
              <a:xfrm flipH="1">
                <a:off x="7752080" y="3225800"/>
                <a:ext cx="3210560" cy="3307080"/>
              </a:xfrm>
              <a:custGeom>
                <a:avLst/>
                <a:gdLst>
                  <a:gd name="connsiteX0" fmla="*/ 3210560 w 3210560"/>
                  <a:gd name="connsiteY0" fmla="*/ 584200 h 3307080"/>
                  <a:gd name="connsiteX1" fmla="*/ 1762760 w 3210560"/>
                  <a:gd name="connsiteY1" fmla="*/ 568960 h 3307080"/>
                  <a:gd name="connsiteX2" fmla="*/ 1767840 w 3210560"/>
                  <a:gd name="connsiteY2" fmla="*/ 0 h 3307080"/>
                  <a:gd name="connsiteX3" fmla="*/ 401320 w 3210560"/>
                  <a:gd name="connsiteY3" fmla="*/ 20320 h 3307080"/>
                  <a:gd name="connsiteX4" fmla="*/ 401320 w 3210560"/>
                  <a:gd name="connsiteY4" fmla="*/ 741680 h 3307080"/>
                  <a:gd name="connsiteX5" fmla="*/ 299720 w 3210560"/>
                  <a:gd name="connsiteY5" fmla="*/ 731520 h 3307080"/>
                  <a:gd name="connsiteX6" fmla="*/ 299720 w 3210560"/>
                  <a:gd name="connsiteY6" fmla="*/ 1295400 h 3307080"/>
                  <a:gd name="connsiteX7" fmla="*/ 0 w 3210560"/>
                  <a:gd name="connsiteY7" fmla="*/ 1300480 h 3307080"/>
                  <a:gd name="connsiteX8" fmla="*/ 15240 w 3210560"/>
                  <a:gd name="connsiteY8" fmla="*/ 2372360 h 3307080"/>
                  <a:gd name="connsiteX9" fmla="*/ 325120 w 3210560"/>
                  <a:gd name="connsiteY9" fmla="*/ 2387600 h 3307080"/>
                  <a:gd name="connsiteX10" fmla="*/ 325120 w 3210560"/>
                  <a:gd name="connsiteY10" fmla="*/ 3093720 h 3307080"/>
                  <a:gd name="connsiteX11" fmla="*/ 1625600 w 3210560"/>
                  <a:gd name="connsiteY11" fmla="*/ 3108960 h 3307080"/>
                  <a:gd name="connsiteX12" fmla="*/ 1635760 w 3210560"/>
                  <a:gd name="connsiteY12" fmla="*/ 3307080 h 3307080"/>
                  <a:gd name="connsiteX13" fmla="*/ 2768600 w 3210560"/>
                  <a:gd name="connsiteY13" fmla="*/ 3296920 h 3307080"/>
                  <a:gd name="connsiteX14" fmla="*/ 2763520 w 3210560"/>
                  <a:gd name="connsiteY14" fmla="*/ 1148080 h 3307080"/>
                  <a:gd name="connsiteX15" fmla="*/ 3195320 w 3210560"/>
                  <a:gd name="connsiteY15" fmla="*/ 1153160 h 3307080"/>
                  <a:gd name="connsiteX16" fmla="*/ 3210560 w 3210560"/>
                  <a:gd name="connsiteY16" fmla="*/ 584200 h 330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210560" h="3307080">
                    <a:moveTo>
                      <a:pt x="3210560" y="584200"/>
                    </a:moveTo>
                    <a:lnTo>
                      <a:pt x="1762760" y="568960"/>
                    </a:lnTo>
                    <a:cubicBezTo>
                      <a:pt x="1764453" y="379307"/>
                      <a:pt x="1766147" y="189653"/>
                      <a:pt x="1767840" y="0"/>
                    </a:cubicBezTo>
                    <a:lnTo>
                      <a:pt x="401320" y="20320"/>
                    </a:lnTo>
                    <a:lnTo>
                      <a:pt x="401320" y="741680"/>
                    </a:lnTo>
                    <a:lnTo>
                      <a:pt x="299720" y="731520"/>
                    </a:lnTo>
                    <a:lnTo>
                      <a:pt x="299720" y="1295400"/>
                    </a:lnTo>
                    <a:lnTo>
                      <a:pt x="0" y="1300480"/>
                    </a:lnTo>
                    <a:lnTo>
                      <a:pt x="15240" y="2372360"/>
                    </a:lnTo>
                    <a:lnTo>
                      <a:pt x="325120" y="2387600"/>
                    </a:lnTo>
                    <a:lnTo>
                      <a:pt x="325120" y="3093720"/>
                    </a:lnTo>
                    <a:lnTo>
                      <a:pt x="1625600" y="3108960"/>
                    </a:lnTo>
                    <a:lnTo>
                      <a:pt x="1635760" y="3307080"/>
                    </a:lnTo>
                    <a:lnTo>
                      <a:pt x="2768600" y="3296920"/>
                    </a:lnTo>
                    <a:cubicBezTo>
                      <a:pt x="2766907" y="2580640"/>
                      <a:pt x="2765213" y="1864360"/>
                      <a:pt x="2763520" y="1148080"/>
                    </a:cubicBezTo>
                    <a:lnTo>
                      <a:pt x="3195320" y="1153160"/>
                    </a:lnTo>
                    <a:lnTo>
                      <a:pt x="3210560" y="584200"/>
                    </a:lnTo>
                    <a:close/>
                  </a:path>
                </a:pathLst>
              </a:custGeom>
              <a:solidFill>
                <a:srgbClr val="7030A0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0" name="手繪多邊形: 圖案 9">
                <a:extLst>
                  <a:ext uri="{FF2B5EF4-FFF2-40B4-BE49-F238E27FC236}">
                    <a16:creationId xmlns:a16="http://schemas.microsoft.com/office/drawing/2014/main" id="{B36DB830-35DB-6792-8206-FB2FDF8D62BD}"/>
                  </a:ext>
                </a:extLst>
              </p:cNvPr>
              <p:cNvSpPr/>
              <p:nvPr/>
            </p:nvSpPr>
            <p:spPr>
              <a:xfrm>
                <a:off x="3077633" y="4174067"/>
                <a:ext cx="5096934" cy="2434166"/>
              </a:xfrm>
              <a:custGeom>
                <a:avLst/>
                <a:gdLst>
                  <a:gd name="connsiteX0" fmla="*/ 444500 w 5096934"/>
                  <a:gd name="connsiteY0" fmla="*/ 0 h 2434166"/>
                  <a:gd name="connsiteX1" fmla="*/ 1710267 w 5096934"/>
                  <a:gd name="connsiteY1" fmla="*/ 10583 h 2434166"/>
                  <a:gd name="connsiteX2" fmla="*/ 1710267 w 5096934"/>
                  <a:gd name="connsiteY2" fmla="*/ 209550 h 2434166"/>
                  <a:gd name="connsiteX3" fmla="*/ 3407834 w 5096934"/>
                  <a:gd name="connsiteY3" fmla="*/ 215900 h 2434166"/>
                  <a:gd name="connsiteX4" fmla="*/ 3401484 w 5096934"/>
                  <a:gd name="connsiteY4" fmla="*/ 8466 h 2434166"/>
                  <a:gd name="connsiteX5" fmla="*/ 4663017 w 5096934"/>
                  <a:gd name="connsiteY5" fmla="*/ 0 h 2434166"/>
                  <a:gd name="connsiteX6" fmla="*/ 4673600 w 5096934"/>
                  <a:gd name="connsiteY6" fmla="*/ 220133 h 2434166"/>
                  <a:gd name="connsiteX7" fmla="*/ 5090584 w 5096934"/>
                  <a:gd name="connsiteY7" fmla="*/ 222250 h 2434166"/>
                  <a:gd name="connsiteX8" fmla="*/ 5096934 w 5096934"/>
                  <a:gd name="connsiteY8" fmla="*/ 2214033 h 2434166"/>
                  <a:gd name="connsiteX9" fmla="*/ 4326467 w 5096934"/>
                  <a:gd name="connsiteY9" fmla="*/ 2214033 h 2434166"/>
                  <a:gd name="connsiteX10" fmla="*/ 4271434 w 5096934"/>
                  <a:gd name="connsiteY10" fmla="*/ 2214033 h 2434166"/>
                  <a:gd name="connsiteX11" fmla="*/ 4275667 w 5096934"/>
                  <a:gd name="connsiteY11" fmla="*/ 2269066 h 2434166"/>
                  <a:gd name="connsiteX12" fmla="*/ 3407834 w 5096934"/>
                  <a:gd name="connsiteY12" fmla="*/ 2247900 h 2434166"/>
                  <a:gd name="connsiteX13" fmla="*/ 3412067 w 5096934"/>
                  <a:gd name="connsiteY13" fmla="*/ 2434166 h 2434166"/>
                  <a:gd name="connsiteX14" fmla="*/ 1712384 w 5096934"/>
                  <a:gd name="connsiteY14" fmla="*/ 2417233 h 2434166"/>
                  <a:gd name="connsiteX15" fmla="*/ 1712384 w 5096934"/>
                  <a:gd name="connsiteY15" fmla="*/ 2237316 h 2434166"/>
                  <a:gd name="connsiteX16" fmla="*/ 857250 w 5096934"/>
                  <a:gd name="connsiteY16" fmla="*/ 2262716 h 2434166"/>
                  <a:gd name="connsiteX17" fmla="*/ 855134 w 5096934"/>
                  <a:gd name="connsiteY17" fmla="*/ 2180166 h 2434166"/>
                  <a:gd name="connsiteX18" fmla="*/ 4234 w 5096934"/>
                  <a:gd name="connsiteY18" fmla="*/ 2180166 h 2434166"/>
                  <a:gd name="connsiteX19" fmla="*/ 0 w 5096934"/>
                  <a:gd name="connsiteY19" fmla="*/ 230716 h 2434166"/>
                  <a:gd name="connsiteX20" fmla="*/ 438150 w 5096934"/>
                  <a:gd name="connsiteY20" fmla="*/ 226483 h 2434166"/>
                  <a:gd name="connsiteX21" fmla="*/ 444500 w 5096934"/>
                  <a:gd name="connsiteY21" fmla="*/ 0 h 2434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96934" h="2434166">
                    <a:moveTo>
                      <a:pt x="444500" y="0"/>
                    </a:moveTo>
                    <a:lnTo>
                      <a:pt x="1710267" y="10583"/>
                    </a:lnTo>
                    <a:lnTo>
                      <a:pt x="1710267" y="209550"/>
                    </a:lnTo>
                    <a:lnTo>
                      <a:pt x="3407834" y="215900"/>
                    </a:lnTo>
                    <a:lnTo>
                      <a:pt x="3401484" y="8466"/>
                    </a:lnTo>
                    <a:lnTo>
                      <a:pt x="4663017" y="0"/>
                    </a:lnTo>
                    <a:lnTo>
                      <a:pt x="4673600" y="220133"/>
                    </a:lnTo>
                    <a:lnTo>
                      <a:pt x="5090584" y="222250"/>
                    </a:lnTo>
                    <a:cubicBezTo>
                      <a:pt x="5092701" y="886178"/>
                      <a:pt x="5094817" y="1550105"/>
                      <a:pt x="5096934" y="2214033"/>
                    </a:cubicBezTo>
                    <a:lnTo>
                      <a:pt x="4326467" y="2214033"/>
                    </a:lnTo>
                    <a:lnTo>
                      <a:pt x="4271434" y="2214033"/>
                    </a:lnTo>
                    <a:lnTo>
                      <a:pt x="4275667" y="2269066"/>
                    </a:lnTo>
                    <a:lnTo>
                      <a:pt x="3407834" y="2247900"/>
                    </a:lnTo>
                    <a:lnTo>
                      <a:pt x="3412067" y="2434166"/>
                    </a:lnTo>
                    <a:lnTo>
                      <a:pt x="1712384" y="2417233"/>
                    </a:lnTo>
                    <a:lnTo>
                      <a:pt x="1712384" y="2237316"/>
                    </a:lnTo>
                    <a:lnTo>
                      <a:pt x="857250" y="2262716"/>
                    </a:lnTo>
                    <a:cubicBezTo>
                      <a:pt x="856545" y="2235199"/>
                      <a:pt x="855839" y="2207683"/>
                      <a:pt x="855134" y="2180166"/>
                    </a:cubicBezTo>
                    <a:lnTo>
                      <a:pt x="4234" y="2180166"/>
                    </a:lnTo>
                    <a:cubicBezTo>
                      <a:pt x="2823" y="1530349"/>
                      <a:pt x="1411" y="880533"/>
                      <a:pt x="0" y="230716"/>
                    </a:cubicBezTo>
                    <a:lnTo>
                      <a:pt x="438150" y="226483"/>
                    </a:lnTo>
                    <a:lnTo>
                      <a:pt x="444500" y="0"/>
                    </a:lnTo>
                    <a:close/>
                  </a:path>
                </a:pathLst>
              </a:custGeom>
              <a:solidFill>
                <a:srgbClr val="FFC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1" name="手繪多邊形: 圖案 10">
                <a:extLst>
                  <a:ext uri="{FF2B5EF4-FFF2-40B4-BE49-F238E27FC236}">
                    <a16:creationId xmlns:a16="http://schemas.microsoft.com/office/drawing/2014/main" id="{0A16E449-2183-4A47-77EB-E31EEFAB9553}"/>
                  </a:ext>
                </a:extLst>
              </p:cNvPr>
              <p:cNvSpPr/>
              <p:nvPr/>
            </p:nvSpPr>
            <p:spPr>
              <a:xfrm>
                <a:off x="3052233" y="110067"/>
                <a:ext cx="1828800" cy="3323166"/>
              </a:xfrm>
              <a:custGeom>
                <a:avLst/>
                <a:gdLst>
                  <a:gd name="connsiteX0" fmla="*/ 842434 w 1828800"/>
                  <a:gd name="connsiteY0" fmla="*/ 0 h 3323166"/>
                  <a:gd name="connsiteX1" fmla="*/ 12700 w 1828800"/>
                  <a:gd name="connsiteY1" fmla="*/ 4233 h 3323166"/>
                  <a:gd name="connsiteX2" fmla="*/ 0 w 1828800"/>
                  <a:gd name="connsiteY2" fmla="*/ 3149600 h 3323166"/>
                  <a:gd name="connsiteX3" fmla="*/ 436034 w 1828800"/>
                  <a:gd name="connsiteY3" fmla="*/ 3128433 h 3323166"/>
                  <a:gd name="connsiteX4" fmla="*/ 440267 w 1828800"/>
                  <a:gd name="connsiteY4" fmla="*/ 3323166 h 3323166"/>
                  <a:gd name="connsiteX5" fmla="*/ 1020234 w 1828800"/>
                  <a:gd name="connsiteY5" fmla="*/ 3310466 h 3323166"/>
                  <a:gd name="connsiteX6" fmla="*/ 986367 w 1828800"/>
                  <a:gd name="connsiteY6" fmla="*/ 2070100 h 3323166"/>
                  <a:gd name="connsiteX7" fmla="*/ 1206500 w 1828800"/>
                  <a:gd name="connsiteY7" fmla="*/ 1816100 h 3323166"/>
                  <a:gd name="connsiteX8" fmla="*/ 1824567 w 1828800"/>
                  <a:gd name="connsiteY8" fmla="*/ 1833033 h 3323166"/>
                  <a:gd name="connsiteX9" fmla="*/ 1828800 w 1828800"/>
                  <a:gd name="connsiteY9" fmla="*/ 266700 h 3323166"/>
                  <a:gd name="connsiteX10" fmla="*/ 1092200 w 1828800"/>
                  <a:gd name="connsiteY10" fmla="*/ 270933 h 3323166"/>
                  <a:gd name="connsiteX11" fmla="*/ 1075267 w 1828800"/>
                  <a:gd name="connsiteY11" fmla="*/ 101600 h 3323166"/>
                  <a:gd name="connsiteX12" fmla="*/ 846667 w 1828800"/>
                  <a:gd name="connsiteY12" fmla="*/ 101600 h 3323166"/>
                  <a:gd name="connsiteX13" fmla="*/ 842434 w 1828800"/>
                  <a:gd name="connsiteY13" fmla="*/ 0 h 3323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28800" h="3323166">
                    <a:moveTo>
                      <a:pt x="842434" y="0"/>
                    </a:moveTo>
                    <a:lnTo>
                      <a:pt x="12700" y="4233"/>
                    </a:lnTo>
                    <a:cubicBezTo>
                      <a:pt x="8467" y="1052689"/>
                      <a:pt x="4233" y="2101144"/>
                      <a:pt x="0" y="3149600"/>
                    </a:cubicBezTo>
                    <a:lnTo>
                      <a:pt x="436034" y="3128433"/>
                    </a:lnTo>
                    <a:lnTo>
                      <a:pt x="440267" y="3323166"/>
                    </a:lnTo>
                    <a:lnTo>
                      <a:pt x="1020234" y="3310466"/>
                    </a:lnTo>
                    <a:lnTo>
                      <a:pt x="986367" y="2070100"/>
                    </a:lnTo>
                    <a:lnTo>
                      <a:pt x="1206500" y="1816100"/>
                    </a:lnTo>
                    <a:lnTo>
                      <a:pt x="1824567" y="1833033"/>
                    </a:lnTo>
                    <a:lnTo>
                      <a:pt x="1828800" y="266700"/>
                    </a:lnTo>
                    <a:lnTo>
                      <a:pt x="1092200" y="270933"/>
                    </a:lnTo>
                    <a:lnTo>
                      <a:pt x="1075267" y="101600"/>
                    </a:lnTo>
                    <a:lnTo>
                      <a:pt x="846667" y="101600"/>
                    </a:lnTo>
                    <a:lnTo>
                      <a:pt x="842434" y="0"/>
                    </a:lnTo>
                    <a:close/>
                  </a:path>
                </a:pathLst>
              </a:custGeom>
              <a:solidFill>
                <a:srgbClr val="00B0F0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2" name="手繪多邊形: 圖案 11">
                <a:extLst>
                  <a:ext uri="{FF2B5EF4-FFF2-40B4-BE49-F238E27FC236}">
                    <a16:creationId xmlns:a16="http://schemas.microsoft.com/office/drawing/2014/main" id="{96F0F6FA-CF0C-D643-D89B-9486D26F9E00}"/>
                  </a:ext>
                </a:extLst>
              </p:cNvPr>
              <p:cNvSpPr/>
              <p:nvPr/>
            </p:nvSpPr>
            <p:spPr>
              <a:xfrm>
                <a:off x="6383867" y="97367"/>
                <a:ext cx="1820333" cy="3335866"/>
              </a:xfrm>
              <a:custGeom>
                <a:avLst/>
                <a:gdLst>
                  <a:gd name="connsiteX0" fmla="*/ 0 w 1820333"/>
                  <a:gd name="connsiteY0" fmla="*/ 279400 h 3335866"/>
                  <a:gd name="connsiteX1" fmla="*/ 745066 w 1820333"/>
                  <a:gd name="connsiteY1" fmla="*/ 287866 h 3335866"/>
                  <a:gd name="connsiteX2" fmla="*/ 740833 w 1820333"/>
                  <a:gd name="connsiteY2" fmla="*/ 114300 h 3335866"/>
                  <a:gd name="connsiteX3" fmla="*/ 960966 w 1820333"/>
                  <a:gd name="connsiteY3" fmla="*/ 118533 h 3335866"/>
                  <a:gd name="connsiteX4" fmla="*/ 960966 w 1820333"/>
                  <a:gd name="connsiteY4" fmla="*/ 0 h 3335866"/>
                  <a:gd name="connsiteX5" fmla="*/ 1807633 w 1820333"/>
                  <a:gd name="connsiteY5" fmla="*/ 0 h 3335866"/>
                  <a:gd name="connsiteX6" fmla="*/ 1820333 w 1820333"/>
                  <a:gd name="connsiteY6" fmla="*/ 3124200 h 3335866"/>
                  <a:gd name="connsiteX7" fmla="*/ 1380066 w 1820333"/>
                  <a:gd name="connsiteY7" fmla="*/ 3141133 h 3335866"/>
                  <a:gd name="connsiteX8" fmla="*/ 1397000 w 1820333"/>
                  <a:gd name="connsiteY8" fmla="*/ 3335866 h 3335866"/>
                  <a:gd name="connsiteX9" fmla="*/ 757766 w 1820333"/>
                  <a:gd name="connsiteY9" fmla="*/ 3327400 h 3335866"/>
                  <a:gd name="connsiteX10" fmla="*/ 723900 w 1820333"/>
                  <a:gd name="connsiteY10" fmla="*/ 1841500 h 3335866"/>
                  <a:gd name="connsiteX11" fmla="*/ 12700 w 1820333"/>
                  <a:gd name="connsiteY11" fmla="*/ 1837266 h 3335866"/>
                  <a:gd name="connsiteX12" fmla="*/ 0 w 1820333"/>
                  <a:gd name="connsiteY12" fmla="*/ 279400 h 3335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20333" h="3335866">
                    <a:moveTo>
                      <a:pt x="0" y="279400"/>
                    </a:moveTo>
                    <a:lnTo>
                      <a:pt x="745066" y="287866"/>
                    </a:lnTo>
                    <a:lnTo>
                      <a:pt x="740833" y="114300"/>
                    </a:lnTo>
                    <a:lnTo>
                      <a:pt x="960966" y="118533"/>
                    </a:lnTo>
                    <a:lnTo>
                      <a:pt x="960966" y="0"/>
                    </a:lnTo>
                    <a:lnTo>
                      <a:pt x="1807633" y="0"/>
                    </a:lnTo>
                    <a:cubicBezTo>
                      <a:pt x="1811866" y="1041400"/>
                      <a:pt x="1816100" y="2082800"/>
                      <a:pt x="1820333" y="3124200"/>
                    </a:cubicBezTo>
                    <a:lnTo>
                      <a:pt x="1380066" y="3141133"/>
                    </a:lnTo>
                    <a:lnTo>
                      <a:pt x="1397000" y="3335866"/>
                    </a:lnTo>
                    <a:lnTo>
                      <a:pt x="757766" y="3327400"/>
                    </a:lnTo>
                    <a:lnTo>
                      <a:pt x="723900" y="1841500"/>
                    </a:lnTo>
                    <a:lnTo>
                      <a:pt x="12700" y="1837266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00B0F0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899BB6A-2383-9F8C-153E-7A2C84A2CB81}"/>
                </a:ext>
              </a:extLst>
            </p:cNvPr>
            <p:cNvSpPr/>
            <p:nvPr/>
          </p:nvSpPr>
          <p:spPr>
            <a:xfrm>
              <a:off x="0" y="5765800"/>
              <a:ext cx="9160933" cy="56991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金城路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A48A703-B3BF-6365-F85A-2C3BE3DA685E}"/>
                </a:ext>
              </a:extLst>
            </p:cNvPr>
            <p:cNvSpPr/>
            <p:nvPr/>
          </p:nvSpPr>
          <p:spPr>
            <a:xfrm>
              <a:off x="8863559" y="0"/>
              <a:ext cx="346368" cy="633571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青仁路</a:t>
              </a: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8FA5529C-507A-9350-42D6-7A977BD3F9F3}"/>
                </a:ext>
              </a:extLst>
            </p:cNvPr>
            <p:cNvSpPr txBox="1"/>
            <p:nvPr/>
          </p:nvSpPr>
          <p:spPr>
            <a:xfrm>
              <a:off x="3172373" y="2455128"/>
              <a:ext cx="65203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31.05</a:t>
              </a:r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坪</a:t>
              </a: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360F7C2E-3494-1117-4894-FB9A65D1E670}"/>
                </a:ext>
              </a:extLst>
            </p:cNvPr>
            <p:cNvSpPr txBox="1"/>
            <p:nvPr/>
          </p:nvSpPr>
          <p:spPr>
            <a:xfrm>
              <a:off x="3172373" y="4597954"/>
              <a:ext cx="6817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33.05</a:t>
              </a:r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坪</a:t>
              </a: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8A96034A-2C44-E574-5F82-560B8AEA4D5E}"/>
                </a:ext>
              </a:extLst>
            </p:cNvPr>
            <p:cNvSpPr txBox="1"/>
            <p:nvPr/>
          </p:nvSpPr>
          <p:spPr>
            <a:xfrm>
              <a:off x="4270654" y="4826059"/>
              <a:ext cx="6464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25.16</a:t>
              </a:r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坪</a:t>
              </a: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C930E661-1CB3-CA57-3389-D37D05D0D9BE}"/>
                </a:ext>
              </a:extLst>
            </p:cNvPr>
            <p:cNvSpPr txBox="1"/>
            <p:nvPr/>
          </p:nvSpPr>
          <p:spPr>
            <a:xfrm>
              <a:off x="5917797" y="4844175"/>
              <a:ext cx="6464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25.16</a:t>
              </a:r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坪</a:t>
              </a: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1B30C75A-27EC-BAAB-FF32-F36F78711F77}"/>
                </a:ext>
              </a:extLst>
            </p:cNvPr>
            <p:cNvSpPr txBox="1"/>
            <p:nvPr/>
          </p:nvSpPr>
          <p:spPr>
            <a:xfrm>
              <a:off x="6336761" y="3069996"/>
              <a:ext cx="65943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20.23</a:t>
              </a:r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坪</a:t>
              </a: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30A06DA5-0CE2-79D4-4811-4FC36E2A6BD1}"/>
                </a:ext>
              </a:extLst>
            </p:cNvPr>
            <p:cNvSpPr txBox="1"/>
            <p:nvPr/>
          </p:nvSpPr>
          <p:spPr>
            <a:xfrm>
              <a:off x="3804033" y="3051939"/>
              <a:ext cx="65943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20.88</a:t>
              </a:r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坪</a:t>
              </a: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0CA6A6B0-D0CD-A80C-5418-6AFD050F0CA9}"/>
                </a:ext>
              </a:extLst>
            </p:cNvPr>
            <p:cNvSpPr txBox="1"/>
            <p:nvPr/>
          </p:nvSpPr>
          <p:spPr>
            <a:xfrm>
              <a:off x="6996194" y="4579838"/>
              <a:ext cx="6464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33.05</a:t>
              </a:r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坪</a:t>
              </a: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BC313109-ED03-6559-0B09-23592468F4F2}"/>
                </a:ext>
              </a:extLst>
            </p:cNvPr>
            <p:cNvSpPr txBox="1"/>
            <p:nvPr/>
          </p:nvSpPr>
          <p:spPr>
            <a:xfrm>
              <a:off x="7665298" y="2947401"/>
              <a:ext cx="6464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31.09</a:t>
              </a:r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坪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F0F23C6-84B9-A967-EBF9-DEC2C6B56B54}"/>
                </a:ext>
              </a:extLst>
            </p:cNvPr>
            <p:cNvSpPr/>
            <p:nvPr/>
          </p:nvSpPr>
          <p:spPr>
            <a:xfrm>
              <a:off x="5810250" y="0"/>
              <a:ext cx="2787650" cy="12827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皇翔芊翠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B539FD1-B19E-8E66-74C7-4E91EC9ABA6E}"/>
                </a:ext>
              </a:extLst>
            </p:cNvPr>
            <p:cNvSpPr/>
            <p:nvPr/>
          </p:nvSpPr>
          <p:spPr>
            <a:xfrm>
              <a:off x="2119431" y="9382"/>
              <a:ext cx="2787650" cy="90787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馥華城真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902AB38-3BDB-F25C-34D0-BB31388EEC54}"/>
                </a:ext>
              </a:extLst>
            </p:cNvPr>
            <p:cNvSpPr/>
            <p:nvPr/>
          </p:nvSpPr>
          <p:spPr>
            <a:xfrm>
              <a:off x="-1" y="1467377"/>
              <a:ext cx="1645719" cy="414125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金城舞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四季花園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7531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9FF8C96-0904-00D5-1CA9-1B0D49E1E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2ED928D-D607-8076-6FE2-4D820B53FE26}"/>
              </a:ext>
            </a:extLst>
          </p:cNvPr>
          <p:cNvSpPr txBox="1"/>
          <p:nvPr/>
        </p:nvSpPr>
        <p:spPr>
          <a:xfrm>
            <a:off x="237786" y="312002"/>
            <a:ext cx="4334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丰藏 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本週新增 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64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戶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24E21F1-7FBC-6975-305A-08C386F48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366614"/>
              </p:ext>
            </p:extLst>
          </p:nvPr>
        </p:nvGraphicFramePr>
        <p:xfrm>
          <a:off x="0" y="4351438"/>
          <a:ext cx="470154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794">
                  <a:extLst>
                    <a:ext uri="{9D8B030D-6E8A-4147-A177-3AD203B41FA5}">
                      <a16:colId xmlns:a16="http://schemas.microsoft.com/office/drawing/2014/main" val="3876115257"/>
                    </a:ext>
                  </a:extLst>
                </a:gridCol>
                <a:gridCol w="1233823">
                  <a:extLst>
                    <a:ext uri="{9D8B030D-6E8A-4147-A177-3AD203B41FA5}">
                      <a16:colId xmlns:a16="http://schemas.microsoft.com/office/drawing/2014/main" val="1534726269"/>
                    </a:ext>
                  </a:extLst>
                </a:gridCol>
                <a:gridCol w="1089235">
                  <a:extLst>
                    <a:ext uri="{9D8B030D-6E8A-4147-A177-3AD203B41FA5}">
                      <a16:colId xmlns:a16="http://schemas.microsoft.com/office/drawing/2014/main" val="2493757328"/>
                    </a:ext>
                  </a:extLst>
                </a:gridCol>
                <a:gridCol w="1397689">
                  <a:extLst>
                    <a:ext uri="{9D8B030D-6E8A-4147-A177-3AD203B41FA5}">
                      <a16:colId xmlns:a16="http://schemas.microsoft.com/office/drawing/2014/main" val="3859435701"/>
                    </a:ext>
                  </a:extLst>
                </a:gridCol>
              </a:tblGrid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基地位置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土城區明德段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地號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072258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投資建設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家泰建設、嘉潤建設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開案時間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114.06.30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99279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建築設計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曾聰憲建築師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建築結構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1712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基地面積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720.76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使用分區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第二種住宅區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325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19F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008701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規劃戶數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152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公設比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34.97%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777820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154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20~33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4040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房車配比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1:1.01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車位價格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255~290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366842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F04B9422-EB48-0A48-7520-035FEB15D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091268"/>
              </p:ext>
            </p:extLst>
          </p:nvPr>
        </p:nvGraphicFramePr>
        <p:xfrm>
          <a:off x="4795520" y="86374"/>
          <a:ext cx="7294878" cy="6459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542">
                  <a:extLst>
                    <a:ext uri="{9D8B030D-6E8A-4147-A177-3AD203B41FA5}">
                      <a16:colId xmlns:a16="http://schemas.microsoft.com/office/drawing/2014/main" val="1632636762"/>
                    </a:ext>
                  </a:extLst>
                </a:gridCol>
                <a:gridCol w="810542">
                  <a:extLst>
                    <a:ext uri="{9D8B030D-6E8A-4147-A177-3AD203B41FA5}">
                      <a16:colId xmlns:a16="http://schemas.microsoft.com/office/drawing/2014/main" val="2959554920"/>
                    </a:ext>
                  </a:extLst>
                </a:gridCol>
                <a:gridCol w="810542">
                  <a:extLst>
                    <a:ext uri="{9D8B030D-6E8A-4147-A177-3AD203B41FA5}">
                      <a16:colId xmlns:a16="http://schemas.microsoft.com/office/drawing/2014/main" val="1655267164"/>
                    </a:ext>
                  </a:extLst>
                </a:gridCol>
                <a:gridCol w="810542">
                  <a:extLst>
                    <a:ext uri="{9D8B030D-6E8A-4147-A177-3AD203B41FA5}">
                      <a16:colId xmlns:a16="http://schemas.microsoft.com/office/drawing/2014/main" val="377616868"/>
                    </a:ext>
                  </a:extLst>
                </a:gridCol>
                <a:gridCol w="810542">
                  <a:extLst>
                    <a:ext uri="{9D8B030D-6E8A-4147-A177-3AD203B41FA5}">
                      <a16:colId xmlns:a16="http://schemas.microsoft.com/office/drawing/2014/main" val="377190592"/>
                    </a:ext>
                  </a:extLst>
                </a:gridCol>
                <a:gridCol w="810542">
                  <a:extLst>
                    <a:ext uri="{9D8B030D-6E8A-4147-A177-3AD203B41FA5}">
                      <a16:colId xmlns:a16="http://schemas.microsoft.com/office/drawing/2014/main" val="1005757219"/>
                    </a:ext>
                  </a:extLst>
                </a:gridCol>
                <a:gridCol w="810542">
                  <a:extLst>
                    <a:ext uri="{9D8B030D-6E8A-4147-A177-3AD203B41FA5}">
                      <a16:colId xmlns:a16="http://schemas.microsoft.com/office/drawing/2014/main" val="374221299"/>
                    </a:ext>
                  </a:extLst>
                </a:gridCol>
                <a:gridCol w="810542">
                  <a:extLst>
                    <a:ext uri="{9D8B030D-6E8A-4147-A177-3AD203B41FA5}">
                      <a16:colId xmlns:a16="http://schemas.microsoft.com/office/drawing/2014/main" val="2145638229"/>
                    </a:ext>
                  </a:extLst>
                </a:gridCol>
                <a:gridCol w="810542">
                  <a:extLst>
                    <a:ext uri="{9D8B030D-6E8A-4147-A177-3AD203B41FA5}">
                      <a16:colId xmlns:a16="http://schemas.microsoft.com/office/drawing/2014/main" val="3613902121"/>
                    </a:ext>
                  </a:extLst>
                </a:gridCol>
              </a:tblGrid>
              <a:tr h="3479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798061"/>
                  </a:ext>
                </a:extLst>
              </a:tr>
              <a:tr h="3479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20.88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31.09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33.05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25.16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25.16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33.05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31.05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20.23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27097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80.02萬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77.05萬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209778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81.53萬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77.98萬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934268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79.36萬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76.02萬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79.75萬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785951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77.89萬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407896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241340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79.92萬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82.51萬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82.51萬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98631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79.79萬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81.39萬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513105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79.13萬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746684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75.97萬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1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80.12萬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75.44萬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027247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76.55萬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75.25萬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73.25萬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73.73萬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75.95萬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262156"/>
                  </a:ext>
                </a:extLst>
              </a:tr>
              <a:tr h="3063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77.10萬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74.16萬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73.73萬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80491"/>
                  </a:ext>
                </a:extLst>
              </a:tr>
              <a:tr h="3063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74.97萬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74.64萬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73.76萬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72.96萬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77.43萬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35504"/>
                  </a:ext>
                </a:extLst>
              </a:tr>
              <a:tr h="3063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78.89萬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73.46萬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72.54萬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74.96萬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313130"/>
                  </a:ext>
                </a:extLst>
              </a:tr>
              <a:tr h="3063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75.63萬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72.71萬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72.47萬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210807"/>
                  </a:ext>
                </a:extLst>
              </a:tr>
              <a:tr h="3063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76.80萬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72.95萬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77.50萬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77.78萬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72.34萬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70.93萬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74.02萬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24898"/>
                  </a:ext>
                </a:extLst>
              </a:tr>
              <a:tr h="3063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73.20萬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76.45萬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71.16萬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76.27萬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73.33萬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71.04萬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69.96萬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75.35萬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7895"/>
                  </a:ext>
                </a:extLst>
              </a:tr>
              <a:tr h="3063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75.35萬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70.41萬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72.97萬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75.15萬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73.89萬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70.70萬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73.08萬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47691"/>
                  </a:ext>
                </a:extLst>
              </a:tr>
              <a:tr h="3063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79.90萬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80.08萬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74.22萬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74.22萬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75.86萬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6659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2C716153-2017-EFFA-B4BF-9D204B31C10E}"/>
              </a:ext>
            </a:extLst>
          </p:cNvPr>
          <p:cNvSpPr/>
          <p:nvPr/>
        </p:nvSpPr>
        <p:spPr>
          <a:xfrm>
            <a:off x="8474746" y="6584178"/>
            <a:ext cx="1015204" cy="1874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十二月: 3戶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8FCF35-A488-D3A6-6ECF-4F33A9076A30}"/>
              </a:ext>
            </a:extLst>
          </p:cNvPr>
          <p:cNvSpPr/>
          <p:nvPr/>
        </p:nvSpPr>
        <p:spPr>
          <a:xfrm>
            <a:off x="10948754" y="6584178"/>
            <a:ext cx="1015204" cy="18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二月:  3戶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AF34A1-5F29-B6A8-D38E-AA63767A7D68}"/>
              </a:ext>
            </a:extLst>
          </p:cNvPr>
          <p:cNvSpPr/>
          <p:nvPr/>
        </p:nvSpPr>
        <p:spPr>
          <a:xfrm>
            <a:off x="4795520" y="6584178"/>
            <a:ext cx="1015204" cy="1874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九月:  2戶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60ED51-3EA1-A7BA-FFC5-9F3FDE4AB70C}"/>
              </a:ext>
            </a:extLst>
          </p:cNvPr>
          <p:cNvSpPr/>
          <p:nvPr/>
        </p:nvSpPr>
        <p:spPr>
          <a:xfrm>
            <a:off x="6000738" y="6584178"/>
            <a:ext cx="1015204" cy="1874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十月:  12戶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068817-167C-B972-B0FA-E72D566A1836}"/>
              </a:ext>
            </a:extLst>
          </p:cNvPr>
          <p:cNvSpPr/>
          <p:nvPr/>
        </p:nvSpPr>
        <p:spPr>
          <a:xfrm>
            <a:off x="7237742" y="6584178"/>
            <a:ext cx="1015204" cy="187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十一月:  4戶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F6C16A-1058-DFD4-F512-B86A247FFBD6}"/>
              </a:ext>
            </a:extLst>
          </p:cNvPr>
          <p:cNvSpPr/>
          <p:nvPr/>
        </p:nvSpPr>
        <p:spPr>
          <a:xfrm>
            <a:off x="9711750" y="6584178"/>
            <a:ext cx="1015204" cy="187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一月: 4戶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3225EC59-01E1-1B25-0FF0-0450676A8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37352" y="35267"/>
            <a:ext cx="2826835" cy="433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51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F8C96-0904-00D5-1CA9-1B0D49E1E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2ED928D-D607-8076-6FE2-4D820B53FE26}"/>
              </a:ext>
            </a:extLst>
          </p:cNvPr>
          <p:cNvSpPr txBox="1"/>
          <p:nvPr/>
        </p:nvSpPr>
        <p:spPr>
          <a:xfrm>
            <a:off x="237786" y="312002"/>
            <a:ext cx="4334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台信琢岳 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本週新增 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戶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24E21F1-7FBC-6975-305A-08C386F48FEF}"/>
              </a:ext>
            </a:extLst>
          </p:cNvPr>
          <p:cNvGraphicFramePr>
            <a:graphicFrameLocks noGrp="1"/>
          </p:cNvGraphicFramePr>
          <p:nvPr/>
        </p:nvGraphicFramePr>
        <p:xfrm>
          <a:off x="0" y="4351438"/>
          <a:ext cx="470154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794">
                  <a:extLst>
                    <a:ext uri="{9D8B030D-6E8A-4147-A177-3AD203B41FA5}">
                      <a16:colId xmlns:a16="http://schemas.microsoft.com/office/drawing/2014/main" val="3876115257"/>
                    </a:ext>
                  </a:extLst>
                </a:gridCol>
                <a:gridCol w="1233823">
                  <a:extLst>
                    <a:ext uri="{9D8B030D-6E8A-4147-A177-3AD203B41FA5}">
                      <a16:colId xmlns:a16="http://schemas.microsoft.com/office/drawing/2014/main" val="1534726269"/>
                    </a:ext>
                  </a:extLst>
                </a:gridCol>
                <a:gridCol w="1089235">
                  <a:extLst>
                    <a:ext uri="{9D8B030D-6E8A-4147-A177-3AD203B41FA5}">
                      <a16:colId xmlns:a16="http://schemas.microsoft.com/office/drawing/2014/main" val="2493757328"/>
                    </a:ext>
                  </a:extLst>
                </a:gridCol>
                <a:gridCol w="1397689">
                  <a:extLst>
                    <a:ext uri="{9D8B030D-6E8A-4147-A177-3AD203B41FA5}">
                      <a16:colId xmlns:a16="http://schemas.microsoft.com/office/drawing/2014/main" val="3859435701"/>
                    </a:ext>
                  </a:extLst>
                </a:gridCol>
              </a:tblGrid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基地位置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土城區明德段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地號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072258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投資建設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台信建設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開案時間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113.06.13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99279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建築設計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李立夫建築師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建築結構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1712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基地面積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705.5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使用分區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第二種住宅區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325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19F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B5F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008701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規劃戶數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128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公設比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34%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777820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20~44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4040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房車配比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1:1.09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車位價格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235~290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366842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F04B9422-EB48-0A48-7520-035FEB15D9E4}"/>
              </a:ext>
            </a:extLst>
          </p:cNvPr>
          <p:cNvGraphicFramePr>
            <a:graphicFrameLocks noGrp="1"/>
          </p:cNvGraphicFramePr>
          <p:nvPr/>
        </p:nvGraphicFramePr>
        <p:xfrm>
          <a:off x="4795520" y="86374"/>
          <a:ext cx="7294880" cy="6459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60">
                  <a:extLst>
                    <a:ext uri="{9D8B030D-6E8A-4147-A177-3AD203B41FA5}">
                      <a16:colId xmlns:a16="http://schemas.microsoft.com/office/drawing/2014/main" val="1632636762"/>
                    </a:ext>
                  </a:extLst>
                </a:gridCol>
                <a:gridCol w="911860">
                  <a:extLst>
                    <a:ext uri="{9D8B030D-6E8A-4147-A177-3AD203B41FA5}">
                      <a16:colId xmlns:a16="http://schemas.microsoft.com/office/drawing/2014/main" val="2959554920"/>
                    </a:ext>
                  </a:extLst>
                </a:gridCol>
                <a:gridCol w="911860">
                  <a:extLst>
                    <a:ext uri="{9D8B030D-6E8A-4147-A177-3AD203B41FA5}">
                      <a16:colId xmlns:a16="http://schemas.microsoft.com/office/drawing/2014/main" val="1655267164"/>
                    </a:ext>
                  </a:extLst>
                </a:gridCol>
                <a:gridCol w="911860">
                  <a:extLst>
                    <a:ext uri="{9D8B030D-6E8A-4147-A177-3AD203B41FA5}">
                      <a16:colId xmlns:a16="http://schemas.microsoft.com/office/drawing/2014/main" val="377616868"/>
                    </a:ext>
                  </a:extLst>
                </a:gridCol>
                <a:gridCol w="911860">
                  <a:extLst>
                    <a:ext uri="{9D8B030D-6E8A-4147-A177-3AD203B41FA5}">
                      <a16:colId xmlns:a16="http://schemas.microsoft.com/office/drawing/2014/main" val="377190592"/>
                    </a:ext>
                  </a:extLst>
                </a:gridCol>
                <a:gridCol w="911860">
                  <a:extLst>
                    <a:ext uri="{9D8B030D-6E8A-4147-A177-3AD203B41FA5}">
                      <a16:colId xmlns:a16="http://schemas.microsoft.com/office/drawing/2014/main" val="1005757219"/>
                    </a:ext>
                  </a:extLst>
                </a:gridCol>
                <a:gridCol w="911860">
                  <a:extLst>
                    <a:ext uri="{9D8B030D-6E8A-4147-A177-3AD203B41FA5}">
                      <a16:colId xmlns:a16="http://schemas.microsoft.com/office/drawing/2014/main" val="374221299"/>
                    </a:ext>
                  </a:extLst>
                </a:gridCol>
                <a:gridCol w="911860">
                  <a:extLst>
                    <a:ext uri="{9D8B030D-6E8A-4147-A177-3AD203B41FA5}">
                      <a16:colId xmlns:a16="http://schemas.microsoft.com/office/drawing/2014/main" val="3613902121"/>
                    </a:ext>
                  </a:extLst>
                </a:gridCol>
              </a:tblGrid>
              <a:tr h="3479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A7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A8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798061"/>
                  </a:ext>
                </a:extLst>
              </a:tr>
              <a:tr h="3479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44.13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25.67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44.07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37.46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20.67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20.67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36.98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27097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209778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934268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785951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407896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241340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98631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83.17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513105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82.12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746684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82.04</a:t>
                      </a:r>
                      <a:r>
                        <a:rPr lang="zh-TW" altLang="en-US" sz="12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en-US" altLang="zh-TW" sz="12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027247"/>
                  </a:ext>
                </a:extLst>
              </a:tr>
              <a:tr h="331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77.29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76.44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77.02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262156"/>
                  </a:ext>
                </a:extLst>
              </a:tr>
              <a:tr h="3063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70.36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72.85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77.33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70.60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79.00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76.54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71.11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80491"/>
                  </a:ext>
                </a:extLst>
              </a:tr>
              <a:tr h="3063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71.94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74.64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71.88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75.38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75.04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75.86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70.71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35504"/>
                  </a:ext>
                </a:extLst>
              </a:tr>
              <a:tr h="3063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71.56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72.54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76.17萬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71.02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76.25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70.52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313130"/>
                  </a:ext>
                </a:extLst>
              </a:tr>
              <a:tr h="3063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75.91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74.48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74.34萬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73.63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75.28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210807"/>
                  </a:ext>
                </a:extLst>
              </a:tr>
              <a:tr h="3063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74.29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72.07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72.07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72.71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24898"/>
                  </a:ext>
                </a:extLst>
              </a:tr>
              <a:tr h="3063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74.21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76.68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7895"/>
                  </a:ext>
                </a:extLst>
              </a:tr>
              <a:tr h="3063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74.02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70.68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76.00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47691"/>
                  </a:ext>
                </a:extLst>
              </a:tr>
              <a:tr h="30630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82.12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66594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C69A73E2-BC41-3B62-F06F-D211FA4D2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53" y="1043106"/>
            <a:ext cx="3148633" cy="29357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C716153-2017-EFFA-B4BF-9D204B31C10E}"/>
              </a:ext>
            </a:extLst>
          </p:cNvPr>
          <p:cNvSpPr/>
          <p:nvPr/>
        </p:nvSpPr>
        <p:spPr>
          <a:xfrm>
            <a:off x="7269528" y="6584178"/>
            <a:ext cx="1015204" cy="1874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十二月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8FCF35-A488-D3A6-6ECF-4F33A9076A30}"/>
              </a:ext>
            </a:extLst>
          </p:cNvPr>
          <p:cNvSpPr/>
          <p:nvPr/>
        </p:nvSpPr>
        <p:spPr>
          <a:xfrm>
            <a:off x="9743536" y="6584178"/>
            <a:ext cx="1015204" cy="18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二月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AF34A1-5F29-B6A8-D38E-AA63767A7D68}"/>
              </a:ext>
            </a:extLst>
          </p:cNvPr>
          <p:cNvSpPr/>
          <p:nvPr/>
        </p:nvSpPr>
        <p:spPr>
          <a:xfrm>
            <a:off x="10980540" y="6584178"/>
            <a:ext cx="1015204" cy="1874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三月:  1戶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60ED51-3EA1-A7BA-FFC5-9F3FDE4AB70C}"/>
              </a:ext>
            </a:extLst>
          </p:cNvPr>
          <p:cNvSpPr/>
          <p:nvPr/>
        </p:nvSpPr>
        <p:spPr>
          <a:xfrm>
            <a:off x="4795520" y="6584178"/>
            <a:ext cx="1015204" cy="1874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十月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068817-167C-B972-B0FA-E72D566A1836}"/>
              </a:ext>
            </a:extLst>
          </p:cNvPr>
          <p:cNvSpPr/>
          <p:nvPr/>
        </p:nvSpPr>
        <p:spPr>
          <a:xfrm>
            <a:off x="6032524" y="6584178"/>
            <a:ext cx="1015204" cy="187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十一月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F6C16A-1058-DFD4-F512-B86A247FFBD6}"/>
              </a:ext>
            </a:extLst>
          </p:cNvPr>
          <p:cNvSpPr/>
          <p:nvPr/>
        </p:nvSpPr>
        <p:spPr>
          <a:xfrm>
            <a:off x="8506532" y="6584178"/>
            <a:ext cx="1015204" cy="187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一月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戶</a:t>
            </a:r>
          </a:p>
        </p:txBody>
      </p:sp>
    </p:spTree>
    <p:extLst>
      <p:ext uri="{BB962C8B-B14F-4D97-AF65-F5344CB8AC3E}">
        <p14:creationId xmlns:p14="http://schemas.microsoft.com/office/powerpoint/2010/main" val="131248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4F5D41F-6E32-279C-111F-DFE47DE48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05" y="555755"/>
            <a:ext cx="3690660" cy="3714827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00A9847-DF79-1A5C-A3D4-9189FE865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084113"/>
              </p:ext>
            </p:extLst>
          </p:nvPr>
        </p:nvGraphicFramePr>
        <p:xfrm>
          <a:off x="0" y="4351438"/>
          <a:ext cx="470154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794">
                  <a:extLst>
                    <a:ext uri="{9D8B030D-6E8A-4147-A177-3AD203B41FA5}">
                      <a16:colId xmlns:a16="http://schemas.microsoft.com/office/drawing/2014/main" val="3876115257"/>
                    </a:ext>
                  </a:extLst>
                </a:gridCol>
                <a:gridCol w="1233823">
                  <a:extLst>
                    <a:ext uri="{9D8B030D-6E8A-4147-A177-3AD203B41FA5}">
                      <a16:colId xmlns:a16="http://schemas.microsoft.com/office/drawing/2014/main" val="1534726269"/>
                    </a:ext>
                  </a:extLst>
                </a:gridCol>
                <a:gridCol w="1089235">
                  <a:extLst>
                    <a:ext uri="{9D8B030D-6E8A-4147-A177-3AD203B41FA5}">
                      <a16:colId xmlns:a16="http://schemas.microsoft.com/office/drawing/2014/main" val="2493757328"/>
                    </a:ext>
                  </a:extLst>
                </a:gridCol>
                <a:gridCol w="1397689">
                  <a:extLst>
                    <a:ext uri="{9D8B030D-6E8A-4147-A177-3AD203B41FA5}">
                      <a16:colId xmlns:a16="http://schemas.microsoft.com/office/drawing/2014/main" val="3859435701"/>
                    </a:ext>
                  </a:extLst>
                </a:gridCol>
              </a:tblGrid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基地位置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土城區明德段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地號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072258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投資建設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茂德、眾德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開案時間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111.12.15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99279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建築設計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陳朝雄建築師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建築結構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1712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基地面積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1335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使用分區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第二種住宅區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325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15F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B6F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併、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008701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規劃戶數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373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公設比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34.5%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777820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395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17~29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4040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房車配比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1:1.05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車位價格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225~270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366842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C227FB52-038F-60D3-B9E6-2381BA577346}"/>
              </a:ext>
            </a:extLst>
          </p:cNvPr>
          <p:cNvSpPr txBox="1"/>
          <p:nvPr/>
        </p:nvSpPr>
        <p:spPr>
          <a:xfrm>
            <a:off x="237786" y="312002"/>
            <a:ext cx="4685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紅布朗花園 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本週新增 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2CA304-72C8-79F2-D997-9B8A3BF2B0E1}"/>
              </a:ext>
            </a:extLst>
          </p:cNvPr>
          <p:cNvSpPr/>
          <p:nvPr/>
        </p:nvSpPr>
        <p:spPr>
          <a:xfrm>
            <a:off x="737191" y="1098698"/>
            <a:ext cx="1247553" cy="11341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54709E-C5F2-DF5D-0CB9-325D067D1EA6}"/>
              </a:ext>
            </a:extLst>
          </p:cNvPr>
          <p:cNvSpPr/>
          <p:nvPr/>
        </p:nvSpPr>
        <p:spPr>
          <a:xfrm>
            <a:off x="2257647" y="3808917"/>
            <a:ext cx="198120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DE70C131-662A-7D9E-2D94-8A50798A1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73598"/>
              </p:ext>
            </p:extLst>
          </p:nvPr>
        </p:nvGraphicFramePr>
        <p:xfrm>
          <a:off x="5089796" y="127014"/>
          <a:ext cx="6864418" cy="6418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038">
                  <a:extLst>
                    <a:ext uri="{9D8B030D-6E8A-4147-A177-3AD203B41FA5}">
                      <a16:colId xmlns:a16="http://schemas.microsoft.com/office/drawing/2014/main" val="1632636762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2959554920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1655267164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77616868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77190592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1005757219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74221299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613902121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517238102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2762497620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470465489"/>
                    </a:ext>
                  </a:extLst>
                </a:gridCol>
              </a:tblGrid>
              <a:tr h="4350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A7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A8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A9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A10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798061"/>
                  </a:ext>
                </a:extLst>
              </a:tr>
              <a:tr h="4350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28.35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17.55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17.7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22.01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28.89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19.42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26.99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21.09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20.87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28.37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27097"/>
                  </a:ext>
                </a:extLst>
              </a:tr>
              <a:tr h="414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49.81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68.83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51.02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54.43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55.79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71.02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67.56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54.63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241340"/>
                  </a:ext>
                </a:extLst>
              </a:tr>
              <a:tr h="414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53.97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71.65萬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66.11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64.21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54.48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53.69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67.23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55.97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52.24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98631"/>
                  </a:ext>
                </a:extLst>
              </a:tr>
              <a:tr h="414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52.66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70.83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69.45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57.93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56.76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53.81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53.91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62.96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59.42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51.95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513105"/>
                  </a:ext>
                </a:extLst>
              </a:tr>
              <a:tr h="414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52.49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70.66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63.29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52.96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53.81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53.35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68.98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55.44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51.92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746684"/>
                  </a:ext>
                </a:extLst>
              </a:tr>
              <a:tr h="414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52.98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69.52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68.83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61.61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52.51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53.40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50.72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54.99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52.90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51.53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027247"/>
                  </a:ext>
                </a:extLst>
              </a:tr>
              <a:tr h="414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49.10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65.14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64.87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53.84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51.99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53.35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50.61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52.34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52.76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51.46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262156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49.45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64.28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65.21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53.61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51.74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51.96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52.61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51.21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80491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49.73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67.76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64.42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52.93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50.12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51.91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52.37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50.83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35504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49.56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62.57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62.73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55.34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51.23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49.98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51.58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51.85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50.76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313130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48.18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59.15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60.46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50.43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51.05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52.42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49.91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51.25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51.65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50.58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210807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48.01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63.25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64.31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52.48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48.98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52.21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49.39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51.06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51.46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24898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48.96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50.60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60.35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49.80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48.80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51.80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50.58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50.07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49.98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7895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51.92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68.95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55.49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53.88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49.05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52.01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49.09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50.68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51.27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50.19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47691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64.20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67.87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66.33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51.92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67.76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49.04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52.53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50.94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49.59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66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53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DE7FBA6-3DA9-F40A-F1A8-1E1F0FCD0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05232"/>
              </p:ext>
            </p:extLst>
          </p:nvPr>
        </p:nvGraphicFramePr>
        <p:xfrm>
          <a:off x="167638" y="127014"/>
          <a:ext cx="11677045" cy="6418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885">
                  <a:extLst>
                    <a:ext uri="{9D8B030D-6E8A-4147-A177-3AD203B41FA5}">
                      <a16:colId xmlns:a16="http://schemas.microsoft.com/office/drawing/2014/main" val="1632636762"/>
                    </a:ext>
                  </a:extLst>
                </a:gridCol>
                <a:gridCol w="686885">
                  <a:extLst>
                    <a:ext uri="{9D8B030D-6E8A-4147-A177-3AD203B41FA5}">
                      <a16:colId xmlns:a16="http://schemas.microsoft.com/office/drawing/2014/main" val="2959554920"/>
                    </a:ext>
                  </a:extLst>
                </a:gridCol>
                <a:gridCol w="686885">
                  <a:extLst>
                    <a:ext uri="{9D8B030D-6E8A-4147-A177-3AD203B41FA5}">
                      <a16:colId xmlns:a16="http://schemas.microsoft.com/office/drawing/2014/main" val="1655267164"/>
                    </a:ext>
                  </a:extLst>
                </a:gridCol>
                <a:gridCol w="686885">
                  <a:extLst>
                    <a:ext uri="{9D8B030D-6E8A-4147-A177-3AD203B41FA5}">
                      <a16:colId xmlns:a16="http://schemas.microsoft.com/office/drawing/2014/main" val="377616868"/>
                    </a:ext>
                  </a:extLst>
                </a:gridCol>
                <a:gridCol w="686885">
                  <a:extLst>
                    <a:ext uri="{9D8B030D-6E8A-4147-A177-3AD203B41FA5}">
                      <a16:colId xmlns:a16="http://schemas.microsoft.com/office/drawing/2014/main" val="377190592"/>
                    </a:ext>
                  </a:extLst>
                </a:gridCol>
                <a:gridCol w="686885">
                  <a:extLst>
                    <a:ext uri="{9D8B030D-6E8A-4147-A177-3AD203B41FA5}">
                      <a16:colId xmlns:a16="http://schemas.microsoft.com/office/drawing/2014/main" val="1005757219"/>
                    </a:ext>
                  </a:extLst>
                </a:gridCol>
                <a:gridCol w="686885">
                  <a:extLst>
                    <a:ext uri="{9D8B030D-6E8A-4147-A177-3AD203B41FA5}">
                      <a16:colId xmlns:a16="http://schemas.microsoft.com/office/drawing/2014/main" val="374221299"/>
                    </a:ext>
                  </a:extLst>
                </a:gridCol>
                <a:gridCol w="686885">
                  <a:extLst>
                    <a:ext uri="{9D8B030D-6E8A-4147-A177-3AD203B41FA5}">
                      <a16:colId xmlns:a16="http://schemas.microsoft.com/office/drawing/2014/main" val="3613902121"/>
                    </a:ext>
                  </a:extLst>
                </a:gridCol>
                <a:gridCol w="686885">
                  <a:extLst>
                    <a:ext uri="{9D8B030D-6E8A-4147-A177-3AD203B41FA5}">
                      <a16:colId xmlns:a16="http://schemas.microsoft.com/office/drawing/2014/main" val="1404433838"/>
                    </a:ext>
                  </a:extLst>
                </a:gridCol>
                <a:gridCol w="686885">
                  <a:extLst>
                    <a:ext uri="{9D8B030D-6E8A-4147-A177-3AD203B41FA5}">
                      <a16:colId xmlns:a16="http://schemas.microsoft.com/office/drawing/2014/main" val="3923849591"/>
                    </a:ext>
                  </a:extLst>
                </a:gridCol>
                <a:gridCol w="686885">
                  <a:extLst>
                    <a:ext uri="{9D8B030D-6E8A-4147-A177-3AD203B41FA5}">
                      <a16:colId xmlns:a16="http://schemas.microsoft.com/office/drawing/2014/main" val="3717270164"/>
                    </a:ext>
                  </a:extLst>
                </a:gridCol>
                <a:gridCol w="686885">
                  <a:extLst>
                    <a:ext uri="{9D8B030D-6E8A-4147-A177-3AD203B41FA5}">
                      <a16:colId xmlns:a16="http://schemas.microsoft.com/office/drawing/2014/main" val="2188391967"/>
                    </a:ext>
                  </a:extLst>
                </a:gridCol>
                <a:gridCol w="686885">
                  <a:extLst>
                    <a:ext uri="{9D8B030D-6E8A-4147-A177-3AD203B41FA5}">
                      <a16:colId xmlns:a16="http://schemas.microsoft.com/office/drawing/2014/main" val="810446591"/>
                    </a:ext>
                  </a:extLst>
                </a:gridCol>
                <a:gridCol w="686885">
                  <a:extLst>
                    <a:ext uri="{9D8B030D-6E8A-4147-A177-3AD203B41FA5}">
                      <a16:colId xmlns:a16="http://schemas.microsoft.com/office/drawing/2014/main" val="3064144016"/>
                    </a:ext>
                  </a:extLst>
                </a:gridCol>
                <a:gridCol w="686885">
                  <a:extLst>
                    <a:ext uri="{9D8B030D-6E8A-4147-A177-3AD203B41FA5}">
                      <a16:colId xmlns:a16="http://schemas.microsoft.com/office/drawing/2014/main" val="2376414389"/>
                    </a:ext>
                  </a:extLst>
                </a:gridCol>
                <a:gridCol w="686885">
                  <a:extLst>
                    <a:ext uri="{9D8B030D-6E8A-4147-A177-3AD203B41FA5}">
                      <a16:colId xmlns:a16="http://schemas.microsoft.com/office/drawing/2014/main" val="3074680746"/>
                    </a:ext>
                  </a:extLst>
                </a:gridCol>
                <a:gridCol w="686885">
                  <a:extLst>
                    <a:ext uri="{9D8B030D-6E8A-4147-A177-3AD203B41FA5}">
                      <a16:colId xmlns:a16="http://schemas.microsoft.com/office/drawing/2014/main" val="3348113220"/>
                    </a:ext>
                  </a:extLst>
                </a:gridCol>
              </a:tblGrid>
              <a:tr h="4350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B7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B8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B9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C8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C9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798061"/>
                  </a:ext>
                </a:extLst>
              </a:tr>
              <a:tr h="4350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21.46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29.48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29.48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21.24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18.15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18.16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23.96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25.14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21.46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29.48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29.48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21.24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18.15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18.16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23.96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25.14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27097"/>
                  </a:ext>
                </a:extLst>
              </a:tr>
              <a:tr h="414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52.94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51.83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67.84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69.22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70.25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67.29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70.41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241340"/>
                  </a:ext>
                </a:extLst>
              </a:tr>
              <a:tr h="414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56.57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62.75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68.01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70.17萬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65.56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70.76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61.98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71.20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65.84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70.10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98631"/>
                  </a:ext>
                </a:extLst>
              </a:tr>
              <a:tr h="414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68.27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50.74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68.99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56.69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69.94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59.41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67.84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67.84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71.67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60.61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70.21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513105"/>
                  </a:ext>
                </a:extLst>
              </a:tr>
              <a:tr h="414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55.22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67.50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67.16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69.69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56.53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68.84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69.29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56.85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67.26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69.18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53.11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69.94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746684"/>
                  </a:ext>
                </a:extLst>
              </a:tr>
              <a:tr h="414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51.03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52.41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67.26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55.10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55.70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65.09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55.93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57.18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63.26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57.05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56.60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62.42萬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57.88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027247"/>
                  </a:ext>
                </a:extLst>
              </a:tr>
              <a:tr h="414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51.73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50.91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51.73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63.10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53.17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56.23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55.51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56.25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53.63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50.74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57.45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53.94萬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54.52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63.40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262156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51.17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50.57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55.36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51.09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52.89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53.09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55.01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54.52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53.19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49.56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58.91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59.31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63.57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68.34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80491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50.89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50.54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54.15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52.67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56.34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50.51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52.56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53.66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50.20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52.69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56.83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68.79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67.22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35504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51.40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50.23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54.17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54.15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52.51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55.62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54.55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54.57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52.74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52.07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52.55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55.51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55.18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68.02萬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313130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51.07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49.73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64.11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55.57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52.34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54.41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51.47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68.02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51.82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52.24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52.03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54.63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55.17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55.01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55.60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54.02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210807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50.42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50.37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64.11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53.97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51.13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51.87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53.64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51.35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56.24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49.62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55.43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51.74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54.52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51.07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24898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52.24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64.04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65.74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65.55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51.57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51.49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68.79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67.22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51.17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60.44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66.63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52.34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51.76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7895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51.73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52.07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65.02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65.93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51.52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52.32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51.55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50.28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51.54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62.41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51.71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52.34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60.47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51.71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47691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61.48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65.51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67.10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65.45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62.56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52.63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60.18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67.00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58.95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64.05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58.74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6659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5C2AC95F-F7B2-FEA9-9344-10CD991D803D}"/>
              </a:ext>
            </a:extLst>
          </p:cNvPr>
          <p:cNvSpPr/>
          <p:nvPr/>
        </p:nvSpPr>
        <p:spPr>
          <a:xfrm>
            <a:off x="167638" y="6609269"/>
            <a:ext cx="1015204" cy="1874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十月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A22EC6-3F9E-079A-62BD-D8DFDC611C5D}"/>
              </a:ext>
            </a:extLst>
          </p:cNvPr>
          <p:cNvSpPr/>
          <p:nvPr/>
        </p:nvSpPr>
        <p:spPr>
          <a:xfrm>
            <a:off x="1367414" y="6609269"/>
            <a:ext cx="1015204" cy="187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十一月:  5戶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76A262-686B-37AA-ED1C-0C7A6E574215}"/>
              </a:ext>
            </a:extLst>
          </p:cNvPr>
          <p:cNvSpPr/>
          <p:nvPr/>
        </p:nvSpPr>
        <p:spPr>
          <a:xfrm>
            <a:off x="2567190" y="6602337"/>
            <a:ext cx="1015204" cy="1874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十二月: 5戶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CB65F-A339-AD6C-5056-0C0428BCEA1D}"/>
              </a:ext>
            </a:extLst>
          </p:cNvPr>
          <p:cNvSpPr/>
          <p:nvPr/>
        </p:nvSpPr>
        <p:spPr>
          <a:xfrm>
            <a:off x="3766966" y="6602337"/>
            <a:ext cx="1015204" cy="187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一月: 5戶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1D62A-229A-EDAA-11D1-B1437E3F5B49}"/>
              </a:ext>
            </a:extLst>
          </p:cNvPr>
          <p:cNvSpPr/>
          <p:nvPr/>
        </p:nvSpPr>
        <p:spPr>
          <a:xfrm>
            <a:off x="4966742" y="6609269"/>
            <a:ext cx="1015204" cy="18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二月:  5戶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132A45-B25D-05A3-CD6E-0CB0175472F5}"/>
              </a:ext>
            </a:extLst>
          </p:cNvPr>
          <p:cNvSpPr/>
          <p:nvPr/>
        </p:nvSpPr>
        <p:spPr>
          <a:xfrm>
            <a:off x="6166518" y="6602337"/>
            <a:ext cx="1015204" cy="1874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三月:  2戶</a:t>
            </a:r>
          </a:p>
        </p:txBody>
      </p:sp>
    </p:spTree>
    <p:extLst>
      <p:ext uri="{BB962C8B-B14F-4D97-AF65-F5344CB8AC3E}">
        <p14:creationId xmlns:p14="http://schemas.microsoft.com/office/powerpoint/2010/main" val="3570746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696A032-C5B1-DCBA-3C62-4ECEBAB5B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72" y="1021451"/>
            <a:ext cx="2890568" cy="287267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2220A8E-5924-D841-2614-EE3197327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0661">
            <a:off x="3095569" y="3009519"/>
            <a:ext cx="1717782" cy="887520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00A9847-DF79-1A5C-A3D4-9189FE865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175552"/>
              </p:ext>
            </p:extLst>
          </p:nvPr>
        </p:nvGraphicFramePr>
        <p:xfrm>
          <a:off x="0" y="4351438"/>
          <a:ext cx="470154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794">
                  <a:extLst>
                    <a:ext uri="{9D8B030D-6E8A-4147-A177-3AD203B41FA5}">
                      <a16:colId xmlns:a16="http://schemas.microsoft.com/office/drawing/2014/main" val="3876115257"/>
                    </a:ext>
                  </a:extLst>
                </a:gridCol>
                <a:gridCol w="1233823">
                  <a:extLst>
                    <a:ext uri="{9D8B030D-6E8A-4147-A177-3AD203B41FA5}">
                      <a16:colId xmlns:a16="http://schemas.microsoft.com/office/drawing/2014/main" val="1534726269"/>
                    </a:ext>
                  </a:extLst>
                </a:gridCol>
                <a:gridCol w="1089235">
                  <a:extLst>
                    <a:ext uri="{9D8B030D-6E8A-4147-A177-3AD203B41FA5}">
                      <a16:colId xmlns:a16="http://schemas.microsoft.com/office/drawing/2014/main" val="2493757328"/>
                    </a:ext>
                  </a:extLst>
                </a:gridCol>
                <a:gridCol w="1397689">
                  <a:extLst>
                    <a:ext uri="{9D8B030D-6E8A-4147-A177-3AD203B41FA5}">
                      <a16:colId xmlns:a16="http://schemas.microsoft.com/office/drawing/2014/main" val="3859435701"/>
                    </a:ext>
                  </a:extLst>
                </a:gridCol>
              </a:tblGrid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基地位置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土城區明德段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地號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072258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投資建設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寶佳建設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開案時間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113.06.05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99279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建築設計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蔡智勸建築師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建築結構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1712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基地面積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1283.94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使用分區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第二種住宅區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325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5F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15F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併、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併、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008701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規劃戶數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234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公設比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33~35%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777820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249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24~38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4040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房車配比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1:1.06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車位價格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210~300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366842"/>
                  </a:ext>
                </a:extLst>
              </a:tr>
            </a:tbl>
          </a:graphicData>
        </a:graphic>
      </p:graphicFrame>
      <p:pic>
        <p:nvPicPr>
          <p:cNvPr id="14" name="圖片 13">
            <a:extLst>
              <a:ext uri="{FF2B5EF4-FFF2-40B4-BE49-F238E27FC236}">
                <a16:creationId xmlns:a16="http://schemas.microsoft.com/office/drawing/2014/main" id="{60327954-FBBB-EE0E-8FD1-9DA4A93AD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561" y="1043106"/>
            <a:ext cx="6599492" cy="5319221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C227FB52-038F-60D3-B9E6-2381BA577346}"/>
              </a:ext>
            </a:extLst>
          </p:cNvPr>
          <p:cNvSpPr txBox="1"/>
          <p:nvPr/>
        </p:nvSpPr>
        <p:spPr>
          <a:xfrm>
            <a:off x="237786" y="312002"/>
            <a:ext cx="4685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寶佳淳青 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本週新增 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戶</a:t>
            </a:r>
          </a:p>
        </p:txBody>
      </p:sp>
    </p:spTree>
    <p:extLst>
      <p:ext uri="{BB962C8B-B14F-4D97-AF65-F5344CB8AC3E}">
        <p14:creationId xmlns:p14="http://schemas.microsoft.com/office/powerpoint/2010/main" val="3399907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DE7FBA6-3DA9-F40A-F1A8-1E1F0FCD0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487000"/>
              </p:ext>
            </p:extLst>
          </p:nvPr>
        </p:nvGraphicFramePr>
        <p:xfrm>
          <a:off x="167639" y="127014"/>
          <a:ext cx="11856722" cy="6418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038">
                  <a:extLst>
                    <a:ext uri="{9D8B030D-6E8A-4147-A177-3AD203B41FA5}">
                      <a16:colId xmlns:a16="http://schemas.microsoft.com/office/drawing/2014/main" val="1632636762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2959554920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1655267164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77616868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77190592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1005757219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74221299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613902121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517238102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2762497620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470465489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4060360471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923849591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717270164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2188391967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810446591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064144016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2376414389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074680746"/>
                    </a:ext>
                  </a:extLst>
                </a:gridCol>
              </a:tblGrid>
              <a:tr h="4350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B7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B8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798061"/>
                  </a:ext>
                </a:extLst>
              </a:tr>
              <a:tr h="4350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34.57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34.61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28.77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28.85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37.75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27.93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28.46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33.77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24.71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25.5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26.82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30.54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30.54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29.07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25.72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25.71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29.07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24.04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27097"/>
                  </a:ext>
                </a:extLst>
              </a:tr>
              <a:tr h="414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57.07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58.37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53.30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58.26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59.96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59.79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241340"/>
                  </a:ext>
                </a:extLst>
              </a:tr>
              <a:tr h="414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57.39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57.76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56.02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59.27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54.46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58.73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60.74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55.52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55.52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57.62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57.85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98631"/>
                  </a:ext>
                </a:extLst>
              </a:tr>
              <a:tr h="414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57.39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57.44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55.36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58.96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53.59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57.39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55.22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55.21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55.75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55.78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513105"/>
                  </a:ext>
                </a:extLst>
              </a:tr>
              <a:tr h="414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53.83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55.36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58.68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55.84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59.38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62.72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55.47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58.41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64.36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746684"/>
                  </a:ext>
                </a:extLst>
              </a:tr>
              <a:tr h="414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55.08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58.37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56.87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58.26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57.36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56.74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59.84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60.89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54.52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55.09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55.12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58.03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59.87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027247"/>
                  </a:ext>
                </a:extLst>
              </a:tr>
              <a:tr h="414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50.94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58.64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262156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58.75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58.32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60.99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80491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53.45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60.99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35504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58.74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313130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58.98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57.97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59.86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55.04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59.79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210807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53.28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57.96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58.16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59.15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59.05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59.03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52.42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55.97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56.47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54.36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48.26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47.77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54.42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54.35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54.38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54.42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54.08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24898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56.55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56.71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57.57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58.04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54.32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55.33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55.88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55.18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53.04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52.55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53.73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53.69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53.72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53.73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63.65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7895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56.38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56.34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56.99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57.33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55.81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58.36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54.11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55.65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56.16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52.84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54.04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54.04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54.07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56.66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47691"/>
                  </a:ext>
                </a:extLst>
              </a:tr>
              <a:tr h="382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56.75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57.09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52.45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56.99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52.74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54.77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53.42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53.38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53.45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53.42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58.74</a:t>
                      </a:r>
                      <a:r>
                        <a:rPr lang="zh-TW" altLang="en-US" sz="9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66594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E628F24D-FABB-C00D-5F18-8AE15433EC0E}"/>
              </a:ext>
            </a:extLst>
          </p:cNvPr>
          <p:cNvSpPr/>
          <p:nvPr/>
        </p:nvSpPr>
        <p:spPr>
          <a:xfrm>
            <a:off x="4999395" y="6622214"/>
            <a:ext cx="1015204" cy="18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二月:  4戶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2AC95F-F7B2-FEA9-9344-10CD991D803D}"/>
              </a:ext>
            </a:extLst>
          </p:cNvPr>
          <p:cNvSpPr/>
          <p:nvPr/>
        </p:nvSpPr>
        <p:spPr>
          <a:xfrm>
            <a:off x="167639" y="6609269"/>
            <a:ext cx="1015204" cy="1874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十月:  2戶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A22EC6-3F9E-079A-62BD-D8DFDC611C5D}"/>
              </a:ext>
            </a:extLst>
          </p:cNvPr>
          <p:cNvSpPr/>
          <p:nvPr/>
        </p:nvSpPr>
        <p:spPr>
          <a:xfrm>
            <a:off x="1367415" y="6609269"/>
            <a:ext cx="1015204" cy="187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十一月:  4戶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860F0B-79B5-5DC6-5BE1-BE0E8F73E3FD}"/>
              </a:ext>
            </a:extLst>
          </p:cNvPr>
          <p:cNvSpPr/>
          <p:nvPr/>
        </p:nvSpPr>
        <p:spPr>
          <a:xfrm>
            <a:off x="2578075" y="6609269"/>
            <a:ext cx="1015204" cy="1874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十二月: 4戶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1A9BA3-DC50-4E53-488A-ADB997B5412A}"/>
              </a:ext>
            </a:extLst>
          </p:cNvPr>
          <p:cNvSpPr/>
          <p:nvPr/>
        </p:nvSpPr>
        <p:spPr>
          <a:xfrm>
            <a:off x="3788735" y="6622214"/>
            <a:ext cx="1015204" cy="187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一月: 4戶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609258-308D-4257-1469-B28361866821}"/>
              </a:ext>
            </a:extLst>
          </p:cNvPr>
          <p:cNvSpPr/>
          <p:nvPr/>
        </p:nvSpPr>
        <p:spPr>
          <a:xfrm>
            <a:off x="6210055" y="6609269"/>
            <a:ext cx="1015204" cy="1874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三月:  1戶</a:t>
            </a:r>
          </a:p>
        </p:txBody>
      </p:sp>
    </p:spTree>
    <p:extLst>
      <p:ext uri="{BB962C8B-B14F-4D97-AF65-F5344CB8AC3E}">
        <p14:creationId xmlns:p14="http://schemas.microsoft.com/office/powerpoint/2010/main" val="2883741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BC52F-34C4-4FBF-0396-91DB4EE6C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190AED07-05CC-E631-97E8-6559325D6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142603"/>
              </p:ext>
            </p:extLst>
          </p:nvPr>
        </p:nvGraphicFramePr>
        <p:xfrm>
          <a:off x="270931" y="3222992"/>
          <a:ext cx="5420742" cy="30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827">
                  <a:extLst>
                    <a:ext uri="{9D8B030D-6E8A-4147-A177-3AD203B41FA5}">
                      <a16:colId xmlns:a16="http://schemas.microsoft.com/office/drawing/2014/main" val="3876115257"/>
                    </a:ext>
                  </a:extLst>
                </a:gridCol>
                <a:gridCol w="1422563">
                  <a:extLst>
                    <a:ext uri="{9D8B030D-6E8A-4147-A177-3AD203B41FA5}">
                      <a16:colId xmlns:a16="http://schemas.microsoft.com/office/drawing/2014/main" val="1534726269"/>
                    </a:ext>
                  </a:extLst>
                </a:gridCol>
                <a:gridCol w="1255857">
                  <a:extLst>
                    <a:ext uri="{9D8B030D-6E8A-4147-A177-3AD203B41FA5}">
                      <a16:colId xmlns:a16="http://schemas.microsoft.com/office/drawing/2014/main" val="2493757328"/>
                    </a:ext>
                  </a:extLst>
                </a:gridCol>
                <a:gridCol w="1611495">
                  <a:extLst>
                    <a:ext uri="{9D8B030D-6E8A-4147-A177-3AD203B41FA5}">
                      <a16:colId xmlns:a16="http://schemas.microsoft.com/office/drawing/2014/main" val="3859435701"/>
                    </a:ext>
                  </a:extLst>
                </a:gridCol>
              </a:tblGrid>
              <a:tr h="3853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基地位置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土城區永寧一段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地號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072258"/>
                  </a:ext>
                </a:extLst>
              </a:tr>
              <a:tr h="3853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投資建設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宸實建設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開案時間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113.06.02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992796"/>
                  </a:ext>
                </a:extLst>
              </a:tr>
              <a:tr h="3853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建築設計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周劍平建築師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建築結構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171275"/>
                  </a:ext>
                </a:extLst>
              </a:tr>
              <a:tr h="3853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基地面積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1333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使用分區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第二種住宅區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32575"/>
                  </a:ext>
                </a:extLst>
              </a:tr>
              <a:tr h="3853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11F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008701"/>
                  </a:ext>
                </a:extLst>
              </a:tr>
              <a:tr h="3853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規劃戶數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公設比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34.06%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777820"/>
                  </a:ext>
                </a:extLst>
              </a:tr>
              <a:tr h="3853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127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22~32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40406"/>
                  </a:ext>
                </a:extLst>
              </a:tr>
              <a:tr h="3853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房車配比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1:0.6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車位價格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210~240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36684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8F780072-546A-7C1C-A0F4-231FEFB69C89}"/>
              </a:ext>
            </a:extLst>
          </p:cNvPr>
          <p:cNvSpPr txBox="1"/>
          <p:nvPr/>
        </p:nvSpPr>
        <p:spPr>
          <a:xfrm>
            <a:off x="237787" y="312002"/>
            <a:ext cx="4867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松陽馥麗 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本週新增 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戶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9F2A424-6E60-438D-5E24-A7A3D6D1DB74}"/>
              </a:ext>
            </a:extLst>
          </p:cNvPr>
          <p:cNvSpPr txBox="1"/>
          <p:nvPr/>
        </p:nvSpPr>
        <p:spPr>
          <a:xfrm>
            <a:off x="9118833" y="6495502"/>
            <a:ext cx="2975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*以上單價皆含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坪全室裝潢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64C2D3FD-E70A-DC5B-538D-48FC0768BB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76" t="45188" r="16514" b="17463"/>
          <a:stretch/>
        </p:blipFill>
        <p:spPr>
          <a:xfrm>
            <a:off x="270932" y="662715"/>
            <a:ext cx="11005968" cy="2444380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15516960-42BF-6298-3234-74F958A287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t="25691" r="404"/>
          <a:stretch/>
        </p:blipFill>
        <p:spPr>
          <a:xfrm>
            <a:off x="6096000" y="3233814"/>
            <a:ext cx="5489161" cy="307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63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BC52F-34C4-4FBF-0396-91DB4EE6C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622F4C4-27D7-C441-B5B7-8D64277D5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573137"/>
              </p:ext>
            </p:extLst>
          </p:nvPr>
        </p:nvGraphicFramePr>
        <p:xfrm>
          <a:off x="24436" y="75579"/>
          <a:ext cx="12143127" cy="64199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244">
                  <a:extLst>
                    <a:ext uri="{9D8B030D-6E8A-4147-A177-3AD203B41FA5}">
                      <a16:colId xmlns:a16="http://schemas.microsoft.com/office/drawing/2014/main" val="1632636762"/>
                    </a:ext>
                  </a:extLst>
                </a:gridCol>
                <a:gridCol w="578244">
                  <a:extLst>
                    <a:ext uri="{9D8B030D-6E8A-4147-A177-3AD203B41FA5}">
                      <a16:colId xmlns:a16="http://schemas.microsoft.com/office/drawing/2014/main" val="2959554920"/>
                    </a:ext>
                  </a:extLst>
                </a:gridCol>
                <a:gridCol w="582619">
                  <a:extLst>
                    <a:ext uri="{9D8B030D-6E8A-4147-A177-3AD203B41FA5}">
                      <a16:colId xmlns:a16="http://schemas.microsoft.com/office/drawing/2014/main" val="1655267164"/>
                    </a:ext>
                  </a:extLst>
                </a:gridCol>
                <a:gridCol w="573872">
                  <a:extLst>
                    <a:ext uri="{9D8B030D-6E8A-4147-A177-3AD203B41FA5}">
                      <a16:colId xmlns:a16="http://schemas.microsoft.com/office/drawing/2014/main" val="377616868"/>
                    </a:ext>
                  </a:extLst>
                </a:gridCol>
                <a:gridCol w="578244">
                  <a:extLst>
                    <a:ext uri="{9D8B030D-6E8A-4147-A177-3AD203B41FA5}">
                      <a16:colId xmlns:a16="http://schemas.microsoft.com/office/drawing/2014/main" val="377190592"/>
                    </a:ext>
                  </a:extLst>
                </a:gridCol>
                <a:gridCol w="578244">
                  <a:extLst>
                    <a:ext uri="{9D8B030D-6E8A-4147-A177-3AD203B41FA5}">
                      <a16:colId xmlns:a16="http://schemas.microsoft.com/office/drawing/2014/main" val="1005757219"/>
                    </a:ext>
                  </a:extLst>
                </a:gridCol>
                <a:gridCol w="578244">
                  <a:extLst>
                    <a:ext uri="{9D8B030D-6E8A-4147-A177-3AD203B41FA5}">
                      <a16:colId xmlns:a16="http://schemas.microsoft.com/office/drawing/2014/main" val="1637805471"/>
                    </a:ext>
                  </a:extLst>
                </a:gridCol>
                <a:gridCol w="578244">
                  <a:extLst>
                    <a:ext uri="{9D8B030D-6E8A-4147-A177-3AD203B41FA5}">
                      <a16:colId xmlns:a16="http://schemas.microsoft.com/office/drawing/2014/main" val="2864024357"/>
                    </a:ext>
                  </a:extLst>
                </a:gridCol>
                <a:gridCol w="578244">
                  <a:extLst>
                    <a:ext uri="{9D8B030D-6E8A-4147-A177-3AD203B41FA5}">
                      <a16:colId xmlns:a16="http://schemas.microsoft.com/office/drawing/2014/main" val="45046084"/>
                    </a:ext>
                  </a:extLst>
                </a:gridCol>
                <a:gridCol w="578244">
                  <a:extLst>
                    <a:ext uri="{9D8B030D-6E8A-4147-A177-3AD203B41FA5}">
                      <a16:colId xmlns:a16="http://schemas.microsoft.com/office/drawing/2014/main" val="3446361549"/>
                    </a:ext>
                  </a:extLst>
                </a:gridCol>
                <a:gridCol w="578244">
                  <a:extLst>
                    <a:ext uri="{9D8B030D-6E8A-4147-A177-3AD203B41FA5}">
                      <a16:colId xmlns:a16="http://schemas.microsoft.com/office/drawing/2014/main" val="1174626737"/>
                    </a:ext>
                  </a:extLst>
                </a:gridCol>
                <a:gridCol w="578244">
                  <a:extLst>
                    <a:ext uri="{9D8B030D-6E8A-4147-A177-3AD203B41FA5}">
                      <a16:colId xmlns:a16="http://schemas.microsoft.com/office/drawing/2014/main" val="2083565926"/>
                    </a:ext>
                  </a:extLst>
                </a:gridCol>
                <a:gridCol w="578244">
                  <a:extLst>
                    <a:ext uri="{9D8B030D-6E8A-4147-A177-3AD203B41FA5}">
                      <a16:colId xmlns:a16="http://schemas.microsoft.com/office/drawing/2014/main" val="110508728"/>
                    </a:ext>
                  </a:extLst>
                </a:gridCol>
                <a:gridCol w="578244">
                  <a:extLst>
                    <a:ext uri="{9D8B030D-6E8A-4147-A177-3AD203B41FA5}">
                      <a16:colId xmlns:a16="http://schemas.microsoft.com/office/drawing/2014/main" val="1705166336"/>
                    </a:ext>
                  </a:extLst>
                </a:gridCol>
                <a:gridCol w="578244">
                  <a:extLst>
                    <a:ext uri="{9D8B030D-6E8A-4147-A177-3AD203B41FA5}">
                      <a16:colId xmlns:a16="http://schemas.microsoft.com/office/drawing/2014/main" val="1246777972"/>
                    </a:ext>
                  </a:extLst>
                </a:gridCol>
                <a:gridCol w="578244">
                  <a:extLst>
                    <a:ext uri="{9D8B030D-6E8A-4147-A177-3AD203B41FA5}">
                      <a16:colId xmlns:a16="http://schemas.microsoft.com/office/drawing/2014/main" val="1427126376"/>
                    </a:ext>
                  </a:extLst>
                </a:gridCol>
                <a:gridCol w="578244">
                  <a:extLst>
                    <a:ext uri="{9D8B030D-6E8A-4147-A177-3AD203B41FA5}">
                      <a16:colId xmlns:a16="http://schemas.microsoft.com/office/drawing/2014/main" val="1172535883"/>
                    </a:ext>
                  </a:extLst>
                </a:gridCol>
                <a:gridCol w="578244">
                  <a:extLst>
                    <a:ext uri="{9D8B030D-6E8A-4147-A177-3AD203B41FA5}">
                      <a16:colId xmlns:a16="http://schemas.microsoft.com/office/drawing/2014/main" val="2680508416"/>
                    </a:ext>
                  </a:extLst>
                </a:gridCol>
                <a:gridCol w="578244">
                  <a:extLst>
                    <a:ext uri="{9D8B030D-6E8A-4147-A177-3AD203B41FA5}">
                      <a16:colId xmlns:a16="http://schemas.microsoft.com/office/drawing/2014/main" val="746124550"/>
                    </a:ext>
                  </a:extLst>
                </a:gridCol>
                <a:gridCol w="578244">
                  <a:extLst>
                    <a:ext uri="{9D8B030D-6E8A-4147-A177-3AD203B41FA5}">
                      <a16:colId xmlns:a16="http://schemas.microsoft.com/office/drawing/2014/main" val="2890856301"/>
                    </a:ext>
                  </a:extLst>
                </a:gridCol>
                <a:gridCol w="578244">
                  <a:extLst>
                    <a:ext uri="{9D8B030D-6E8A-4147-A177-3AD203B41FA5}">
                      <a16:colId xmlns:a16="http://schemas.microsoft.com/office/drawing/2014/main" val="630809295"/>
                    </a:ext>
                  </a:extLst>
                </a:gridCol>
              </a:tblGrid>
              <a:tr h="54279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A4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B4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C4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D4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798061"/>
                  </a:ext>
                </a:extLst>
              </a:tr>
              <a:tr h="54279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31.55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32.42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22.97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25.11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22.87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22.84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24.9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22.84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24.87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22.67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22.84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24.9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22.84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24.87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22.67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22.84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24.9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22.84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24.87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22.67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27097"/>
                  </a:ext>
                </a:extLst>
              </a:tr>
              <a:tr h="51688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70.56</a:t>
                      </a:r>
                      <a:r>
                        <a:rPr lang="zh-TW" altLang="en-US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027247"/>
                  </a:ext>
                </a:extLst>
              </a:tr>
              <a:tr h="51688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71.32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69.85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74.88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262156"/>
                  </a:ext>
                </a:extLst>
              </a:tr>
              <a:tr h="4778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70.94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69.27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74.85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75.33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80491"/>
                  </a:ext>
                </a:extLst>
              </a:tr>
              <a:tr h="4778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70.05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68.74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73.88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74.77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74.98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35504"/>
                  </a:ext>
                </a:extLst>
              </a:tr>
              <a:tr h="4778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69.29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69.02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73.34</a:t>
                      </a:r>
                      <a:r>
                        <a:rPr lang="zh-TW" altLang="en-US" sz="7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73.84</a:t>
                      </a:r>
                      <a:r>
                        <a:rPr lang="zh-TW" altLang="en-US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74.42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74.63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75.69</a:t>
                      </a:r>
                      <a:r>
                        <a:rPr lang="zh-TW" altLang="en-US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313130"/>
                  </a:ext>
                </a:extLst>
              </a:tr>
              <a:tr h="4778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68.97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68.71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73.68</a:t>
                      </a:r>
                      <a:r>
                        <a:rPr lang="zh-TW" altLang="en-US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74.03</a:t>
                      </a:r>
                      <a:r>
                        <a:rPr lang="zh-TW" altLang="en-US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74.2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74.32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75.38</a:t>
                      </a:r>
                      <a:r>
                        <a:rPr lang="zh-TW" altLang="en-US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210807"/>
                  </a:ext>
                </a:extLst>
              </a:tr>
              <a:tr h="4778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68.66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68.16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72.6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72.97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73.64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73.54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73.66</a:t>
                      </a:r>
                      <a:r>
                        <a:rPr lang="zh-TW" altLang="en-US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24898"/>
                  </a:ext>
                </a:extLst>
              </a:tr>
              <a:tr h="4778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68.72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67.76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73.09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73.72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73.54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73.66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7895"/>
                  </a:ext>
                </a:extLst>
              </a:tr>
              <a:tr h="4778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68.31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67.85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73.02</a:t>
                      </a:r>
                      <a:r>
                        <a:rPr lang="zh-TW" altLang="en-US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73.54</a:t>
                      </a:r>
                      <a:r>
                        <a:rPr lang="zh-TW" altLang="en-US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72.78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47691"/>
                  </a:ext>
                </a:extLst>
              </a:tr>
              <a:tr h="4778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68.78</a:t>
                      </a:r>
                      <a:r>
                        <a:rPr lang="zh-TW" altLang="en-US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66.75</a:t>
                      </a:r>
                      <a:r>
                        <a:rPr lang="zh-TW" altLang="en-US" sz="85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72.59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72.21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73.13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66594"/>
                  </a:ext>
                </a:extLst>
              </a:tr>
              <a:tr h="4778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75.63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78.94</a:t>
                      </a:r>
                      <a:r>
                        <a:rPr lang="zh-TW" altLang="en-US" sz="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53804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037E735-0280-9922-30F3-DA4B42650B35}"/>
              </a:ext>
            </a:extLst>
          </p:cNvPr>
          <p:cNvSpPr/>
          <p:nvPr/>
        </p:nvSpPr>
        <p:spPr>
          <a:xfrm>
            <a:off x="4783132" y="6571055"/>
            <a:ext cx="1015204" cy="18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二月:  4戶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9F2A424-6E60-438D-5E24-A7A3D6D1DB74}"/>
              </a:ext>
            </a:extLst>
          </p:cNvPr>
          <p:cNvSpPr txBox="1"/>
          <p:nvPr/>
        </p:nvSpPr>
        <p:spPr>
          <a:xfrm>
            <a:off x="9118833" y="6495502"/>
            <a:ext cx="2975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*以上單價皆含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坪全室裝潢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A5D3F6-4600-B9D3-A269-D8A06863D043}"/>
              </a:ext>
            </a:extLst>
          </p:cNvPr>
          <p:cNvSpPr/>
          <p:nvPr/>
        </p:nvSpPr>
        <p:spPr>
          <a:xfrm>
            <a:off x="24436" y="6571055"/>
            <a:ext cx="1015204" cy="1874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十月:  7戶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87A8E4-4BCF-7196-10FB-9021DB2B8DD2}"/>
              </a:ext>
            </a:extLst>
          </p:cNvPr>
          <p:cNvSpPr/>
          <p:nvPr/>
        </p:nvSpPr>
        <p:spPr>
          <a:xfrm>
            <a:off x="1214110" y="6571055"/>
            <a:ext cx="1015204" cy="187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十一月:  1戶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C1DB6B-3CBC-AB78-FF54-33D196482F46}"/>
              </a:ext>
            </a:extLst>
          </p:cNvPr>
          <p:cNvSpPr/>
          <p:nvPr/>
        </p:nvSpPr>
        <p:spPr>
          <a:xfrm>
            <a:off x="2403784" y="6571055"/>
            <a:ext cx="1015204" cy="1874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十二月: 4戶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4038AB-7C73-74C0-49DD-F3AC978437F8}"/>
              </a:ext>
            </a:extLst>
          </p:cNvPr>
          <p:cNvSpPr/>
          <p:nvPr/>
        </p:nvSpPr>
        <p:spPr>
          <a:xfrm>
            <a:off x="3593458" y="6571055"/>
            <a:ext cx="1015204" cy="187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一月: 1戶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5A98B96-92AB-34EA-A39D-748BA095ED12}"/>
              </a:ext>
            </a:extLst>
          </p:cNvPr>
          <p:cNvSpPr/>
          <p:nvPr/>
        </p:nvSpPr>
        <p:spPr>
          <a:xfrm>
            <a:off x="5972806" y="6554698"/>
            <a:ext cx="1015204" cy="1874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三月:  7戶</a:t>
            </a:r>
          </a:p>
        </p:txBody>
      </p:sp>
    </p:spTree>
    <p:extLst>
      <p:ext uri="{BB962C8B-B14F-4D97-AF65-F5344CB8AC3E}">
        <p14:creationId xmlns:p14="http://schemas.microsoft.com/office/powerpoint/2010/main" val="85326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57819-D732-863E-6409-970B67721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DA8D6475-8D3E-4865-576A-D8B0E4C98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79909"/>
              </p:ext>
            </p:extLst>
          </p:nvPr>
        </p:nvGraphicFramePr>
        <p:xfrm>
          <a:off x="650240" y="4351438"/>
          <a:ext cx="470154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794">
                  <a:extLst>
                    <a:ext uri="{9D8B030D-6E8A-4147-A177-3AD203B41FA5}">
                      <a16:colId xmlns:a16="http://schemas.microsoft.com/office/drawing/2014/main" val="3876115257"/>
                    </a:ext>
                  </a:extLst>
                </a:gridCol>
                <a:gridCol w="1233823">
                  <a:extLst>
                    <a:ext uri="{9D8B030D-6E8A-4147-A177-3AD203B41FA5}">
                      <a16:colId xmlns:a16="http://schemas.microsoft.com/office/drawing/2014/main" val="1534726269"/>
                    </a:ext>
                  </a:extLst>
                </a:gridCol>
                <a:gridCol w="1089235">
                  <a:extLst>
                    <a:ext uri="{9D8B030D-6E8A-4147-A177-3AD203B41FA5}">
                      <a16:colId xmlns:a16="http://schemas.microsoft.com/office/drawing/2014/main" val="2493757328"/>
                    </a:ext>
                  </a:extLst>
                </a:gridCol>
                <a:gridCol w="1397689">
                  <a:extLst>
                    <a:ext uri="{9D8B030D-6E8A-4147-A177-3AD203B41FA5}">
                      <a16:colId xmlns:a16="http://schemas.microsoft.com/office/drawing/2014/main" val="3859435701"/>
                    </a:ext>
                  </a:extLst>
                </a:gridCol>
              </a:tblGrid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基地位置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土城區明德段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地號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072258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投資建設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新濠建設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開案時間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113.07.29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99279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建築設計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朱弘楠建築師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建築結構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1712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基地面積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2497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使用分區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第二種住宅區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325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18F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B5F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008701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規劃戶數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661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公設比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36.8%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777820"/>
                  </a:ext>
                </a:extLst>
              </a:tr>
              <a:tr h="22712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604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12~29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4040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房車配比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1:0.93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車位價格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170~250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366842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E263551E-BD33-0B5B-5D0C-A8B1EBA3F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87" y="883526"/>
            <a:ext cx="5702883" cy="307826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8791A90-E654-9B21-4B59-7062CCCD7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632" y="2099247"/>
            <a:ext cx="5711581" cy="306510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4641FA0A-D239-FE18-AD01-94BEEF19D9FE}"/>
              </a:ext>
            </a:extLst>
          </p:cNvPr>
          <p:cNvSpPr txBox="1"/>
          <p:nvPr/>
        </p:nvSpPr>
        <p:spPr>
          <a:xfrm>
            <a:off x="237787" y="312002"/>
            <a:ext cx="5113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新濠岳 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本週新增 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戶</a:t>
            </a:r>
          </a:p>
        </p:txBody>
      </p:sp>
    </p:spTree>
    <p:extLst>
      <p:ext uri="{BB962C8B-B14F-4D97-AF65-F5344CB8AC3E}">
        <p14:creationId xmlns:p14="http://schemas.microsoft.com/office/powerpoint/2010/main" val="58873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F4EB8-5517-117E-C52F-FDE61CD18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8311B69-D4A0-340B-A659-BC2A7BE03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438067"/>
              </p:ext>
            </p:extLst>
          </p:nvPr>
        </p:nvGraphicFramePr>
        <p:xfrm>
          <a:off x="167639" y="63506"/>
          <a:ext cx="11856722" cy="6454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038">
                  <a:extLst>
                    <a:ext uri="{9D8B030D-6E8A-4147-A177-3AD203B41FA5}">
                      <a16:colId xmlns:a16="http://schemas.microsoft.com/office/drawing/2014/main" val="1632636762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2959554920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1655267164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77616868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77190592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1005757219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74221299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613902121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517238102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2762497620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470465489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4060360471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923849591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717270164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2188391967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810446591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064144016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2376414389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3074680746"/>
                    </a:ext>
                  </a:extLst>
                </a:gridCol>
              </a:tblGrid>
              <a:tr h="36647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A7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A8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A9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A10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798061"/>
                  </a:ext>
                </a:extLst>
              </a:tr>
              <a:tr h="36647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18.55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12.02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12.02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15.77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16.09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15.89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17.35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16.19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16.18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16.18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15.65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18.58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11.67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28.21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29.02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23.55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23.55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23.55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27097"/>
                  </a:ext>
                </a:extLst>
              </a:tr>
              <a:tr h="3489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79.25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84.54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84.54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82.5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79.54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79.58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84.51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78.34</a:t>
                      </a:r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03557"/>
                  </a:ext>
                </a:extLst>
              </a:tr>
              <a:tr h="3489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76.92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84.2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81.21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79.23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79.25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83.77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84.25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74.03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102847"/>
                  </a:ext>
                </a:extLst>
              </a:tr>
              <a:tr h="3489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16F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83.96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83.96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78.92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78.93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84.43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83.91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74.24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802722"/>
                  </a:ext>
                </a:extLst>
              </a:tr>
              <a:tr h="3489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83.46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83.46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78.42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78.43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80.94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75.42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en-US" altLang="zh-TW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83.48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73.25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77.23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77.24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77.24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77.24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241340"/>
                  </a:ext>
                </a:extLst>
              </a:tr>
              <a:tr h="3489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82.12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82.12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78.61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78.63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83.65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82.11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71.44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98631"/>
                  </a:ext>
                </a:extLst>
              </a:tr>
              <a:tr h="3489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81.87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81.87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78.29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76.85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83.37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81.85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513105"/>
                  </a:ext>
                </a:extLst>
              </a:tr>
              <a:tr h="3489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74.53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81.54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81.54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78.05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78.05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83.08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82.04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81.51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71.83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746684"/>
                  </a:ext>
                </a:extLst>
              </a:tr>
              <a:tr h="3489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81.21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81.21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76.24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76.22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82.73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84.78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81.21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81.21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71.55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76.03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76.31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76.31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76.31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027247"/>
                  </a:ext>
                </a:extLst>
              </a:tr>
              <a:tr h="3489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73.76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80.71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80.71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78.76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77.24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75.72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79.27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84.27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78.24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80.74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70.02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75.55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77.54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262156"/>
                  </a:ext>
                </a:extLst>
              </a:tr>
              <a:tr h="3226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73.44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80.46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80.46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75.46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75.44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76.93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78.93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80.93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77.93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77.93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69.93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77.48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69.74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77.24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80491"/>
                  </a:ext>
                </a:extLst>
              </a:tr>
              <a:tr h="3226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80.13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73.12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76.65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75.15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78.64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80.62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77.64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77.62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77.63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69.66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77.14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74.92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74.91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35504"/>
                  </a:ext>
                </a:extLst>
              </a:tr>
              <a:tr h="3226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74.81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77.81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76.31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74.84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78.35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83.34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77.31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77.31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77.31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69.33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79.88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70.13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74.61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74.61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74.61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74.61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313130"/>
                  </a:ext>
                </a:extLst>
              </a:tr>
              <a:tr h="3226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7454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74.55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79.55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74.5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74.27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81.06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83.03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77.01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77.01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77.05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69.07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74.57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67.82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74.31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74.31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210807"/>
                  </a:ext>
                </a:extLst>
              </a:tr>
              <a:tr h="3226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72.24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74.22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76.22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71.72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75.69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74.27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77.77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79.76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70.75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79.24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68.53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74.01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74.01</a:t>
                      </a:r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74.01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24898"/>
                  </a:ext>
                </a:extLst>
              </a:tr>
              <a:tr h="3226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73.73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78.71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75.72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75.19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73.77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80.25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79.26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77.75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68.26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73.71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69.03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7895"/>
                  </a:ext>
                </a:extLst>
              </a:tr>
              <a:tr h="3226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75.47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73.41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76.41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73.39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73.45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75.95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67.94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75.42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67.72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73.21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73.21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47691"/>
                  </a:ext>
                </a:extLst>
              </a:tr>
              <a:tr h="3226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73.14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78.13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78.13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74.66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73.14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75.65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69.66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75.17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66594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6C8069DE-57FB-092A-B5A0-E35E8083E462}"/>
              </a:ext>
            </a:extLst>
          </p:cNvPr>
          <p:cNvSpPr/>
          <p:nvPr/>
        </p:nvSpPr>
        <p:spPr>
          <a:xfrm>
            <a:off x="4999385" y="6602613"/>
            <a:ext cx="1015204" cy="18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二月:  1戶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2E829D-3267-2D81-3F5F-EA40C2A1637D}"/>
              </a:ext>
            </a:extLst>
          </p:cNvPr>
          <p:cNvSpPr/>
          <p:nvPr/>
        </p:nvSpPr>
        <p:spPr>
          <a:xfrm>
            <a:off x="167639" y="6607046"/>
            <a:ext cx="1015204" cy="1874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十月:  7戶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E0B30D-5BBA-1FAC-EDA1-7DB0F3151D82}"/>
              </a:ext>
            </a:extLst>
          </p:cNvPr>
          <p:cNvSpPr/>
          <p:nvPr/>
        </p:nvSpPr>
        <p:spPr>
          <a:xfrm>
            <a:off x="1367417" y="6607046"/>
            <a:ext cx="1015204" cy="187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十一月:  4戶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94EC09-26B1-DCFA-B4DC-6937E14AB9C7}"/>
              </a:ext>
            </a:extLst>
          </p:cNvPr>
          <p:cNvSpPr/>
          <p:nvPr/>
        </p:nvSpPr>
        <p:spPr>
          <a:xfrm>
            <a:off x="2578073" y="6607046"/>
            <a:ext cx="1015204" cy="1874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十二月: 1戶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73C7DE-0857-5BF2-3093-4E6C16542588}"/>
              </a:ext>
            </a:extLst>
          </p:cNvPr>
          <p:cNvSpPr/>
          <p:nvPr/>
        </p:nvSpPr>
        <p:spPr>
          <a:xfrm>
            <a:off x="3788729" y="6602613"/>
            <a:ext cx="1015204" cy="187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一月: 4戶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63F440-0602-EB45-F05A-AD05C8AF18DB}"/>
              </a:ext>
            </a:extLst>
          </p:cNvPr>
          <p:cNvSpPr/>
          <p:nvPr/>
        </p:nvSpPr>
        <p:spPr>
          <a:xfrm>
            <a:off x="6210041" y="6602613"/>
            <a:ext cx="1015204" cy="1874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三月:  4戶</a:t>
            </a:r>
          </a:p>
        </p:txBody>
      </p:sp>
    </p:spTree>
    <p:extLst>
      <p:ext uri="{BB962C8B-B14F-4D97-AF65-F5344CB8AC3E}">
        <p14:creationId xmlns:p14="http://schemas.microsoft.com/office/powerpoint/2010/main" val="1232584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49D8E-115B-0458-7194-81B1BD691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CC5BBDC-F223-92C5-894A-504175081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624764"/>
              </p:ext>
            </p:extLst>
          </p:nvPr>
        </p:nvGraphicFramePr>
        <p:xfrm>
          <a:off x="45721" y="50386"/>
          <a:ext cx="12100557" cy="6590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217">
                  <a:extLst>
                    <a:ext uri="{9D8B030D-6E8A-4147-A177-3AD203B41FA5}">
                      <a16:colId xmlns:a16="http://schemas.microsoft.com/office/drawing/2014/main" val="1632636762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3210022452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3171172197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2959554920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1106536620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2791446727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1655267164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377616868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377190592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1005757219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374221299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3613902121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3517238102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2356062180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2762497620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470465489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4060360471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3923849591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3717270164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2188391967"/>
                    </a:ext>
                  </a:extLst>
                </a:gridCol>
                <a:gridCol w="576217">
                  <a:extLst>
                    <a:ext uri="{9D8B030D-6E8A-4147-A177-3AD203B41FA5}">
                      <a16:colId xmlns:a16="http://schemas.microsoft.com/office/drawing/2014/main" val="810446591"/>
                    </a:ext>
                  </a:extLst>
                </a:gridCol>
              </a:tblGrid>
              <a:tr h="32547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B7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B8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B9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B10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B11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B12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B13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B15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B16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C8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C9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C10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C11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C13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798061"/>
                  </a:ext>
                </a:extLst>
              </a:tr>
              <a:tr h="32547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23.55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23.55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23.55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29.29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28.09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20.98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20.96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21.54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20.35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24.84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20.53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21.81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26.1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20.66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21.4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26.1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26.79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24.22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23.36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26.51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27097"/>
                  </a:ext>
                </a:extLst>
              </a:tr>
              <a:tr h="3546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18F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78.33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03557"/>
                  </a:ext>
                </a:extLst>
              </a:tr>
              <a:tr h="3546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78.02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78.02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102847"/>
                  </a:ext>
                </a:extLst>
              </a:tr>
              <a:tr h="3546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79.7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77.71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802722"/>
                  </a:ext>
                </a:extLst>
              </a:tr>
              <a:tr h="3099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241340"/>
                  </a:ext>
                </a:extLst>
              </a:tr>
              <a:tr h="3099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98631"/>
                  </a:ext>
                </a:extLst>
              </a:tr>
              <a:tr h="3546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76.32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75.65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74.65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513105"/>
                  </a:ext>
                </a:extLst>
              </a:tr>
              <a:tr h="3546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76.31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76.31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75.34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75.58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76.61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746684"/>
                  </a:ext>
                </a:extLst>
              </a:tr>
              <a:tr h="3546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76.01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73.03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75.03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74.01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74.48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76.31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027247"/>
                  </a:ext>
                </a:extLst>
              </a:tr>
              <a:tr h="3546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74.52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77.54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71.52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74.51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74.01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72.52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70.52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75.26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74.79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262156"/>
                  </a:ext>
                </a:extLst>
              </a:tr>
              <a:tr h="3546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77.24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74.62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76.31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74.22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71.21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74.24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71.21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74.48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74.46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74.98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74.50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74.89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80491"/>
                  </a:ext>
                </a:extLst>
              </a:tr>
              <a:tr h="3546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74.91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74.91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74.31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76.93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70.91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71.93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69.93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71.92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69.93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74.19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74.19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74.17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74.21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74.17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75.17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74.46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35504"/>
                  </a:ext>
                </a:extLst>
              </a:tr>
              <a:tr h="3546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73.63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74.61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74.03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71.65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73.63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71.64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70.62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73.86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73.87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73.89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74.89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73.89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313130"/>
                  </a:ext>
                </a:extLst>
              </a:tr>
              <a:tr h="3546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74.31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74.31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71.31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71.34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71.32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69.34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73.58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73.61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73.59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73.58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73.61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74.59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73.59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210807"/>
                  </a:ext>
                </a:extLst>
              </a:tr>
              <a:tr h="3546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73.04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74.01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73.21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73.24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71.03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71.05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71.04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69.04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73.26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73.28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74.29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73.29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73.29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74.29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73.29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70.76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24898"/>
                  </a:ext>
                </a:extLst>
              </a:tr>
              <a:tr h="3546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72.53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70.53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69.54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72.76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72.78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7895"/>
                  </a:ext>
                </a:extLst>
              </a:tr>
              <a:tr h="3546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72.23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72.22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70.24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72.24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68.21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73.51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71.46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72.49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47691"/>
                  </a:ext>
                </a:extLst>
              </a:tr>
              <a:tr h="3546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2F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71.93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71.91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71.92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68.95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72.2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72.17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66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88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9664D-2D4A-697A-BD18-9B25EFA46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95EE013-78E9-CE7C-EE05-25865F620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783000"/>
              </p:ext>
            </p:extLst>
          </p:nvPr>
        </p:nvGraphicFramePr>
        <p:xfrm>
          <a:off x="4795520" y="86374"/>
          <a:ext cx="7294885" cy="6459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145">
                  <a:extLst>
                    <a:ext uri="{9D8B030D-6E8A-4147-A177-3AD203B41FA5}">
                      <a16:colId xmlns:a16="http://schemas.microsoft.com/office/drawing/2014/main" val="1632636762"/>
                    </a:ext>
                  </a:extLst>
                </a:gridCol>
                <a:gridCol w="561145">
                  <a:extLst>
                    <a:ext uri="{9D8B030D-6E8A-4147-A177-3AD203B41FA5}">
                      <a16:colId xmlns:a16="http://schemas.microsoft.com/office/drawing/2014/main" val="2959554920"/>
                    </a:ext>
                  </a:extLst>
                </a:gridCol>
                <a:gridCol w="561145">
                  <a:extLst>
                    <a:ext uri="{9D8B030D-6E8A-4147-A177-3AD203B41FA5}">
                      <a16:colId xmlns:a16="http://schemas.microsoft.com/office/drawing/2014/main" val="3837408999"/>
                    </a:ext>
                  </a:extLst>
                </a:gridCol>
                <a:gridCol w="561145">
                  <a:extLst>
                    <a:ext uri="{9D8B030D-6E8A-4147-A177-3AD203B41FA5}">
                      <a16:colId xmlns:a16="http://schemas.microsoft.com/office/drawing/2014/main" val="377616868"/>
                    </a:ext>
                  </a:extLst>
                </a:gridCol>
                <a:gridCol w="561145">
                  <a:extLst>
                    <a:ext uri="{9D8B030D-6E8A-4147-A177-3AD203B41FA5}">
                      <a16:colId xmlns:a16="http://schemas.microsoft.com/office/drawing/2014/main" val="377190592"/>
                    </a:ext>
                  </a:extLst>
                </a:gridCol>
                <a:gridCol w="561145">
                  <a:extLst>
                    <a:ext uri="{9D8B030D-6E8A-4147-A177-3AD203B41FA5}">
                      <a16:colId xmlns:a16="http://schemas.microsoft.com/office/drawing/2014/main" val="1997935811"/>
                    </a:ext>
                  </a:extLst>
                </a:gridCol>
                <a:gridCol w="561145">
                  <a:extLst>
                    <a:ext uri="{9D8B030D-6E8A-4147-A177-3AD203B41FA5}">
                      <a16:colId xmlns:a16="http://schemas.microsoft.com/office/drawing/2014/main" val="374221299"/>
                    </a:ext>
                  </a:extLst>
                </a:gridCol>
                <a:gridCol w="561145">
                  <a:extLst>
                    <a:ext uri="{9D8B030D-6E8A-4147-A177-3AD203B41FA5}">
                      <a16:colId xmlns:a16="http://schemas.microsoft.com/office/drawing/2014/main" val="3613902121"/>
                    </a:ext>
                  </a:extLst>
                </a:gridCol>
                <a:gridCol w="561145">
                  <a:extLst>
                    <a:ext uri="{9D8B030D-6E8A-4147-A177-3AD203B41FA5}">
                      <a16:colId xmlns:a16="http://schemas.microsoft.com/office/drawing/2014/main" val="722397322"/>
                    </a:ext>
                  </a:extLst>
                </a:gridCol>
                <a:gridCol w="561145">
                  <a:extLst>
                    <a:ext uri="{9D8B030D-6E8A-4147-A177-3AD203B41FA5}">
                      <a16:colId xmlns:a16="http://schemas.microsoft.com/office/drawing/2014/main" val="828413379"/>
                    </a:ext>
                  </a:extLst>
                </a:gridCol>
                <a:gridCol w="561145">
                  <a:extLst>
                    <a:ext uri="{9D8B030D-6E8A-4147-A177-3AD203B41FA5}">
                      <a16:colId xmlns:a16="http://schemas.microsoft.com/office/drawing/2014/main" val="1767620730"/>
                    </a:ext>
                  </a:extLst>
                </a:gridCol>
                <a:gridCol w="561145">
                  <a:extLst>
                    <a:ext uri="{9D8B030D-6E8A-4147-A177-3AD203B41FA5}">
                      <a16:colId xmlns:a16="http://schemas.microsoft.com/office/drawing/2014/main" val="1464167966"/>
                    </a:ext>
                  </a:extLst>
                </a:gridCol>
                <a:gridCol w="561145">
                  <a:extLst>
                    <a:ext uri="{9D8B030D-6E8A-4147-A177-3AD203B41FA5}">
                      <a16:colId xmlns:a16="http://schemas.microsoft.com/office/drawing/2014/main" val="3323306663"/>
                    </a:ext>
                  </a:extLst>
                </a:gridCol>
              </a:tblGrid>
              <a:tr h="46795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A7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A8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798061"/>
                  </a:ext>
                </a:extLst>
              </a:tr>
              <a:tr h="46795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36.61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37.28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24.75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24.75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42.26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28.4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25.32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27.5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39.08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27.41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38.63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30.43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27097"/>
                  </a:ext>
                </a:extLst>
              </a:tr>
              <a:tr h="4456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69.98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98631"/>
                  </a:ext>
                </a:extLst>
              </a:tr>
              <a:tr h="4456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66.31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65.27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68.80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68.25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513105"/>
                  </a:ext>
                </a:extLst>
              </a:tr>
              <a:tr h="4456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66.01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64.99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68.49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67.96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69.95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746684"/>
                  </a:ext>
                </a:extLst>
              </a:tr>
              <a:tr h="4456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64.67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68.21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67.66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70.68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027247"/>
                  </a:ext>
                </a:extLst>
              </a:tr>
              <a:tr h="4456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73.87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74.39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64.39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66.87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67.37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70.38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262156"/>
                  </a:ext>
                </a:extLst>
              </a:tr>
              <a:tr h="411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64.09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73.06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63.05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67.58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66.06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72.06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69.07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80491"/>
                  </a:ext>
                </a:extLst>
              </a:tr>
              <a:tr h="411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63.79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71.29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73.26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73.79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71.29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63.79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66.27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65.77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72.78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70.77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68.77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35504"/>
                  </a:ext>
                </a:extLst>
              </a:tr>
              <a:tr h="411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71.97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73.46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63.48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66.98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65.48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69.49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313130"/>
                  </a:ext>
                </a:extLst>
              </a:tr>
              <a:tr h="411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71.48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72.98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62.98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65.48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64.97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210807"/>
                  </a:ext>
                </a:extLst>
              </a:tr>
              <a:tr h="411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63.48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71.97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71.48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62.49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64.97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64.46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67.46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24898"/>
                  </a:ext>
                </a:extLst>
              </a:tr>
              <a:tr h="411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59.48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67.97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68.45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58.48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61.97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61.48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64.47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7895"/>
                  </a:ext>
                </a:extLst>
              </a:tr>
              <a:tr h="411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60.99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68.45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68.98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58.97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62.48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61.99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64.96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47691"/>
                  </a:ext>
                </a:extLst>
              </a:tr>
              <a:tr h="411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67.48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57.98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61.46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68.43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68.2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64.99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66594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792B0108-3913-89D5-2A26-B0008D8AD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440695"/>
            <a:ext cx="4599941" cy="251315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102DE23-7B2E-2F18-9B61-8463A6D51942}"/>
              </a:ext>
            </a:extLst>
          </p:cNvPr>
          <p:cNvSpPr txBox="1"/>
          <p:nvPr/>
        </p:nvSpPr>
        <p:spPr>
          <a:xfrm>
            <a:off x="237787" y="312002"/>
            <a:ext cx="4463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朗沐 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本週新增 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戶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964BC0B-3B84-E09B-A6D3-E9A34D963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324671"/>
              </p:ext>
            </p:extLst>
          </p:nvPr>
        </p:nvGraphicFramePr>
        <p:xfrm>
          <a:off x="0" y="4351438"/>
          <a:ext cx="470154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794">
                  <a:extLst>
                    <a:ext uri="{9D8B030D-6E8A-4147-A177-3AD203B41FA5}">
                      <a16:colId xmlns:a16="http://schemas.microsoft.com/office/drawing/2014/main" val="3876115257"/>
                    </a:ext>
                  </a:extLst>
                </a:gridCol>
                <a:gridCol w="1233823">
                  <a:extLst>
                    <a:ext uri="{9D8B030D-6E8A-4147-A177-3AD203B41FA5}">
                      <a16:colId xmlns:a16="http://schemas.microsoft.com/office/drawing/2014/main" val="1534726269"/>
                    </a:ext>
                  </a:extLst>
                </a:gridCol>
                <a:gridCol w="1089235">
                  <a:extLst>
                    <a:ext uri="{9D8B030D-6E8A-4147-A177-3AD203B41FA5}">
                      <a16:colId xmlns:a16="http://schemas.microsoft.com/office/drawing/2014/main" val="2493757328"/>
                    </a:ext>
                  </a:extLst>
                </a:gridCol>
                <a:gridCol w="1397689">
                  <a:extLst>
                    <a:ext uri="{9D8B030D-6E8A-4147-A177-3AD203B41FA5}">
                      <a16:colId xmlns:a16="http://schemas.microsoft.com/office/drawing/2014/main" val="3859435701"/>
                    </a:ext>
                  </a:extLst>
                </a:gridCol>
              </a:tblGrid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基地位置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土城區永福段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地號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072258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投資建設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丞石、薪昇暘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開案時間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113.11.12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99279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建築設計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李立夫建築師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建築結構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1712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基地面積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803.96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使用分區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第二種住宅區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325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14F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 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008701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規劃戶數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公設比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34.88%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777820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144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24~42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4040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房車配比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1:0.95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車位價格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220~250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366842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3E9247FF-33E7-317E-89AF-A416635B356B}"/>
              </a:ext>
            </a:extLst>
          </p:cNvPr>
          <p:cNvSpPr/>
          <p:nvPr/>
        </p:nvSpPr>
        <p:spPr>
          <a:xfrm>
            <a:off x="9616392" y="6622810"/>
            <a:ext cx="1015204" cy="18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二月:  1戶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22D1A7-DFA5-794A-66B0-36805E63BE8C}"/>
              </a:ext>
            </a:extLst>
          </p:cNvPr>
          <p:cNvSpPr/>
          <p:nvPr/>
        </p:nvSpPr>
        <p:spPr>
          <a:xfrm>
            <a:off x="4795520" y="6622810"/>
            <a:ext cx="1015204" cy="1874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十月:  6戶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037288-3601-5261-39C8-53D67FEB9B7A}"/>
              </a:ext>
            </a:extLst>
          </p:cNvPr>
          <p:cNvSpPr/>
          <p:nvPr/>
        </p:nvSpPr>
        <p:spPr>
          <a:xfrm>
            <a:off x="6000738" y="6622810"/>
            <a:ext cx="1015204" cy="187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十一月:  2戶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EB1D0D-C7B2-5C28-4DB4-83C12C87C2DB}"/>
              </a:ext>
            </a:extLst>
          </p:cNvPr>
          <p:cNvSpPr/>
          <p:nvPr/>
        </p:nvSpPr>
        <p:spPr>
          <a:xfrm>
            <a:off x="7205956" y="6627343"/>
            <a:ext cx="1015204" cy="1874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十二月: 1戶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E3B7D7-9BA6-B15B-9830-E323B63D78F0}"/>
              </a:ext>
            </a:extLst>
          </p:cNvPr>
          <p:cNvSpPr/>
          <p:nvPr/>
        </p:nvSpPr>
        <p:spPr>
          <a:xfrm>
            <a:off x="8411174" y="6622810"/>
            <a:ext cx="1015204" cy="187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一月: 2戶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82E2E6-3DCB-681A-39EE-B1659FE438DF}"/>
              </a:ext>
            </a:extLst>
          </p:cNvPr>
          <p:cNvSpPr/>
          <p:nvPr/>
        </p:nvSpPr>
        <p:spPr>
          <a:xfrm>
            <a:off x="10821610" y="6608688"/>
            <a:ext cx="1015204" cy="1874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三月:  5戶</a:t>
            </a:r>
          </a:p>
        </p:txBody>
      </p:sp>
    </p:spTree>
    <p:extLst>
      <p:ext uri="{BB962C8B-B14F-4D97-AF65-F5344CB8AC3E}">
        <p14:creationId xmlns:p14="http://schemas.microsoft.com/office/powerpoint/2010/main" val="226105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21E44-C734-82B4-E8F5-ECA219C99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B9B4502-E901-3283-A169-5FEF28576EB6}"/>
              </a:ext>
            </a:extLst>
          </p:cNvPr>
          <p:cNvSpPr txBox="1"/>
          <p:nvPr/>
        </p:nvSpPr>
        <p:spPr>
          <a:xfrm>
            <a:off x="501947" y="581441"/>
            <a:ext cx="1633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B46AB1B-877E-D948-5974-B3D0720CB10B}"/>
              </a:ext>
            </a:extLst>
          </p:cNvPr>
          <p:cNvSpPr txBox="1"/>
          <p:nvPr/>
        </p:nvSpPr>
        <p:spPr>
          <a:xfrm>
            <a:off x="101597" y="264049"/>
            <a:ext cx="4272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合康雙匯 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本週新增 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戶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2F75D4D-934C-E314-9BD1-C0979EDEC4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4" t="2009" r="464" b="1180"/>
          <a:stretch>
            <a:fillRect/>
          </a:stretch>
        </p:blipFill>
        <p:spPr>
          <a:xfrm>
            <a:off x="483188" y="1629379"/>
            <a:ext cx="3891083" cy="1363243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3040AEA-2BC0-FBE2-5577-E643061B5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547142"/>
              </p:ext>
            </p:extLst>
          </p:nvPr>
        </p:nvGraphicFramePr>
        <p:xfrm>
          <a:off x="46990" y="4168558"/>
          <a:ext cx="432728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719">
                  <a:extLst>
                    <a:ext uri="{9D8B030D-6E8A-4147-A177-3AD203B41FA5}">
                      <a16:colId xmlns:a16="http://schemas.microsoft.com/office/drawing/2014/main" val="3876115257"/>
                    </a:ext>
                  </a:extLst>
                </a:gridCol>
                <a:gridCol w="1135606">
                  <a:extLst>
                    <a:ext uri="{9D8B030D-6E8A-4147-A177-3AD203B41FA5}">
                      <a16:colId xmlns:a16="http://schemas.microsoft.com/office/drawing/2014/main" val="1534726269"/>
                    </a:ext>
                  </a:extLst>
                </a:gridCol>
                <a:gridCol w="1002528">
                  <a:extLst>
                    <a:ext uri="{9D8B030D-6E8A-4147-A177-3AD203B41FA5}">
                      <a16:colId xmlns:a16="http://schemas.microsoft.com/office/drawing/2014/main" val="2493757328"/>
                    </a:ext>
                  </a:extLst>
                </a:gridCol>
                <a:gridCol w="1286428">
                  <a:extLst>
                    <a:ext uri="{9D8B030D-6E8A-4147-A177-3AD203B41FA5}">
                      <a16:colId xmlns:a16="http://schemas.microsoft.com/office/drawing/2014/main" val="3859435701"/>
                    </a:ext>
                  </a:extLst>
                </a:gridCol>
              </a:tblGrid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基地位置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土城區永福段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地號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072258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投資建設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合康建設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開案時間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113.11.26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99279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建築設計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閤康聯合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建築結構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1712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基地面積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705.5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使用分區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第二種住宅區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325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14F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B5F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併、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008701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規劃戶數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217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公設比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33.5%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777820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19~43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4040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房車配比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1:1.15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車位價格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235~290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366842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C9521667-FC24-1DF4-18AE-40B1FD255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43" r="8188"/>
          <a:stretch/>
        </p:blipFill>
        <p:spPr>
          <a:xfrm>
            <a:off x="4710916" y="656773"/>
            <a:ext cx="7379487" cy="554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625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21E44-C734-82B4-E8F5-ECA219C99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B9B4502-E901-3283-A169-5FEF28576EB6}"/>
              </a:ext>
            </a:extLst>
          </p:cNvPr>
          <p:cNvSpPr txBox="1"/>
          <p:nvPr/>
        </p:nvSpPr>
        <p:spPr>
          <a:xfrm>
            <a:off x="501947" y="581441"/>
            <a:ext cx="1633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4123247-3601-EFF8-3880-36F433B10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832105"/>
              </p:ext>
            </p:extLst>
          </p:nvPr>
        </p:nvGraphicFramePr>
        <p:xfrm>
          <a:off x="186103" y="86374"/>
          <a:ext cx="11819794" cy="6459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282">
                  <a:extLst>
                    <a:ext uri="{9D8B030D-6E8A-4147-A177-3AD203B41FA5}">
                      <a16:colId xmlns:a16="http://schemas.microsoft.com/office/drawing/2014/main" val="1632636762"/>
                    </a:ext>
                  </a:extLst>
                </a:gridCol>
                <a:gridCol w="695282">
                  <a:extLst>
                    <a:ext uri="{9D8B030D-6E8A-4147-A177-3AD203B41FA5}">
                      <a16:colId xmlns:a16="http://schemas.microsoft.com/office/drawing/2014/main" val="2959554920"/>
                    </a:ext>
                  </a:extLst>
                </a:gridCol>
                <a:gridCol w="695282">
                  <a:extLst>
                    <a:ext uri="{9D8B030D-6E8A-4147-A177-3AD203B41FA5}">
                      <a16:colId xmlns:a16="http://schemas.microsoft.com/office/drawing/2014/main" val="333095414"/>
                    </a:ext>
                  </a:extLst>
                </a:gridCol>
                <a:gridCol w="695282">
                  <a:extLst>
                    <a:ext uri="{9D8B030D-6E8A-4147-A177-3AD203B41FA5}">
                      <a16:colId xmlns:a16="http://schemas.microsoft.com/office/drawing/2014/main" val="2757083840"/>
                    </a:ext>
                  </a:extLst>
                </a:gridCol>
                <a:gridCol w="695282">
                  <a:extLst>
                    <a:ext uri="{9D8B030D-6E8A-4147-A177-3AD203B41FA5}">
                      <a16:colId xmlns:a16="http://schemas.microsoft.com/office/drawing/2014/main" val="2175389974"/>
                    </a:ext>
                  </a:extLst>
                </a:gridCol>
                <a:gridCol w="695282">
                  <a:extLst>
                    <a:ext uri="{9D8B030D-6E8A-4147-A177-3AD203B41FA5}">
                      <a16:colId xmlns:a16="http://schemas.microsoft.com/office/drawing/2014/main" val="676208218"/>
                    </a:ext>
                  </a:extLst>
                </a:gridCol>
                <a:gridCol w="695282">
                  <a:extLst>
                    <a:ext uri="{9D8B030D-6E8A-4147-A177-3AD203B41FA5}">
                      <a16:colId xmlns:a16="http://schemas.microsoft.com/office/drawing/2014/main" val="1655267164"/>
                    </a:ext>
                  </a:extLst>
                </a:gridCol>
                <a:gridCol w="695282">
                  <a:extLst>
                    <a:ext uri="{9D8B030D-6E8A-4147-A177-3AD203B41FA5}">
                      <a16:colId xmlns:a16="http://schemas.microsoft.com/office/drawing/2014/main" val="377616868"/>
                    </a:ext>
                  </a:extLst>
                </a:gridCol>
                <a:gridCol w="695282">
                  <a:extLst>
                    <a:ext uri="{9D8B030D-6E8A-4147-A177-3AD203B41FA5}">
                      <a16:colId xmlns:a16="http://schemas.microsoft.com/office/drawing/2014/main" val="377190592"/>
                    </a:ext>
                  </a:extLst>
                </a:gridCol>
                <a:gridCol w="695282">
                  <a:extLst>
                    <a:ext uri="{9D8B030D-6E8A-4147-A177-3AD203B41FA5}">
                      <a16:colId xmlns:a16="http://schemas.microsoft.com/office/drawing/2014/main" val="1005757219"/>
                    </a:ext>
                  </a:extLst>
                </a:gridCol>
                <a:gridCol w="695282">
                  <a:extLst>
                    <a:ext uri="{9D8B030D-6E8A-4147-A177-3AD203B41FA5}">
                      <a16:colId xmlns:a16="http://schemas.microsoft.com/office/drawing/2014/main" val="374221299"/>
                    </a:ext>
                  </a:extLst>
                </a:gridCol>
                <a:gridCol w="695282">
                  <a:extLst>
                    <a:ext uri="{9D8B030D-6E8A-4147-A177-3AD203B41FA5}">
                      <a16:colId xmlns:a16="http://schemas.microsoft.com/office/drawing/2014/main" val="2465945324"/>
                    </a:ext>
                  </a:extLst>
                </a:gridCol>
                <a:gridCol w="695282">
                  <a:extLst>
                    <a:ext uri="{9D8B030D-6E8A-4147-A177-3AD203B41FA5}">
                      <a16:colId xmlns:a16="http://schemas.microsoft.com/office/drawing/2014/main" val="3613902121"/>
                    </a:ext>
                  </a:extLst>
                </a:gridCol>
                <a:gridCol w="695282">
                  <a:extLst>
                    <a:ext uri="{9D8B030D-6E8A-4147-A177-3AD203B41FA5}">
                      <a16:colId xmlns:a16="http://schemas.microsoft.com/office/drawing/2014/main" val="1418696702"/>
                    </a:ext>
                  </a:extLst>
                </a:gridCol>
                <a:gridCol w="695282">
                  <a:extLst>
                    <a:ext uri="{9D8B030D-6E8A-4147-A177-3AD203B41FA5}">
                      <a16:colId xmlns:a16="http://schemas.microsoft.com/office/drawing/2014/main" val="2562773399"/>
                    </a:ext>
                  </a:extLst>
                </a:gridCol>
                <a:gridCol w="695282">
                  <a:extLst>
                    <a:ext uri="{9D8B030D-6E8A-4147-A177-3AD203B41FA5}">
                      <a16:colId xmlns:a16="http://schemas.microsoft.com/office/drawing/2014/main" val="3757714685"/>
                    </a:ext>
                  </a:extLst>
                </a:gridCol>
                <a:gridCol w="695282">
                  <a:extLst>
                    <a:ext uri="{9D8B030D-6E8A-4147-A177-3AD203B41FA5}">
                      <a16:colId xmlns:a16="http://schemas.microsoft.com/office/drawing/2014/main" val="3181693996"/>
                    </a:ext>
                  </a:extLst>
                </a:gridCol>
              </a:tblGrid>
              <a:tr h="46795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A4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B4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C4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798061"/>
                  </a:ext>
                </a:extLst>
              </a:tr>
              <a:tr h="46795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24.91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32.98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37.13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24.91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32.89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37.01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37.13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36.6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43.45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19.2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19.2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39.99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36.96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27097"/>
                  </a:ext>
                </a:extLst>
              </a:tr>
              <a:tr h="4456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56.09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98631"/>
                  </a:ext>
                </a:extLst>
              </a:tr>
              <a:tr h="4456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58.05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63.83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63.00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57.01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55.76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63.03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58.02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57.90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513105"/>
                  </a:ext>
                </a:extLst>
              </a:tr>
              <a:tr h="4456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65.83</a:t>
                      </a:r>
                      <a:r>
                        <a:rPr lang="zh-TW" altLang="en-US" sz="9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65.75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57.28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56.70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59.85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58.52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58.20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746684"/>
                  </a:ext>
                </a:extLst>
              </a:tr>
              <a:tr h="4456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64.95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63.03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65.15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57.09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56.56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59.16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58.34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57.63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027247"/>
                  </a:ext>
                </a:extLst>
              </a:tr>
              <a:tr h="4456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60.94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66.04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65.14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57.06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55.81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57.64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57.66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262156"/>
                  </a:ext>
                </a:extLst>
              </a:tr>
              <a:tr h="411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66.68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65.79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62.12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64.80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56.20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56.51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59.68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57.39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57.22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80491"/>
                  </a:ext>
                </a:extLst>
              </a:tr>
              <a:tr h="411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65.23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57.05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65.75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61.12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66.21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56.74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55.57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58.42萬</a:t>
                      </a:r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55.04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57.58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35504"/>
                  </a:ext>
                </a:extLst>
              </a:tr>
              <a:tr h="411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64.63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64.23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56.79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54.19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58.67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57.79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313130"/>
                  </a:ext>
                </a:extLst>
              </a:tr>
              <a:tr h="411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64.59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64.87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61.09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66.21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56.20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54.95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69.54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70.17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57.52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55.68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210807"/>
                  </a:ext>
                </a:extLst>
              </a:tr>
              <a:tr h="411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64.35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65.35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61.48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64.99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56.42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54.44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69.65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68.76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57.14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57.22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24898"/>
                  </a:ext>
                </a:extLst>
              </a:tr>
              <a:tr h="411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56.43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64.43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55.66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55.08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69.70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56.17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52.65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7895"/>
                  </a:ext>
                </a:extLst>
              </a:tr>
              <a:tr h="411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64.23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61.47萬</a:t>
                      </a:r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56.96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55.41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56.27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56.20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47691"/>
                  </a:ext>
                </a:extLst>
              </a:tr>
              <a:tr h="411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55.90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60.54</a:t>
                      </a:r>
                      <a:r>
                        <a:rPr lang="zh-TW" altLang="en-US" sz="9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6659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F2BC32F9-747D-DA0B-C6AD-24D86ED52776}"/>
              </a:ext>
            </a:extLst>
          </p:cNvPr>
          <p:cNvSpPr/>
          <p:nvPr/>
        </p:nvSpPr>
        <p:spPr>
          <a:xfrm>
            <a:off x="5168771" y="6602004"/>
            <a:ext cx="1015204" cy="18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二月:  4戶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2B9D9F-012E-9A7C-3278-524A5D1E66C4}"/>
              </a:ext>
            </a:extLst>
          </p:cNvPr>
          <p:cNvSpPr/>
          <p:nvPr/>
        </p:nvSpPr>
        <p:spPr>
          <a:xfrm>
            <a:off x="186103" y="6602840"/>
            <a:ext cx="1015204" cy="1874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十月:  3戶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F4069E-F80B-2A0B-243A-61F214452413}"/>
              </a:ext>
            </a:extLst>
          </p:cNvPr>
          <p:cNvSpPr/>
          <p:nvPr/>
        </p:nvSpPr>
        <p:spPr>
          <a:xfrm>
            <a:off x="1431770" y="6602840"/>
            <a:ext cx="1015204" cy="187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十一月:  11戶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CD0CB7-8B62-A2ED-798C-FFD891426B42}"/>
              </a:ext>
            </a:extLst>
          </p:cNvPr>
          <p:cNvSpPr/>
          <p:nvPr/>
        </p:nvSpPr>
        <p:spPr>
          <a:xfrm>
            <a:off x="2677437" y="6602840"/>
            <a:ext cx="1015204" cy="1874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十二月: 4戶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6FCA28-1AF0-AE47-2B41-B47C99CA2B2C}"/>
              </a:ext>
            </a:extLst>
          </p:cNvPr>
          <p:cNvSpPr/>
          <p:nvPr/>
        </p:nvSpPr>
        <p:spPr>
          <a:xfrm>
            <a:off x="3923104" y="6608936"/>
            <a:ext cx="1015204" cy="187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一月: 11戶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69CF2E-52ED-12E5-66A7-FB5545D47704}"/>
              </a:ext>
            </a:extLst>
          </p:cNvPr>
          <p:cNvSpPr/>
          <p:nvPr/>
        </p:nvSpPr>
        <p:spPr>
          <a:xfrm>
            <a:off x="6414438" y="6599605"/>
            <a:ext cx="1015204" cy="1874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三月:  8戶</a:t>
            </a:r>
          </a:p>
        </p:txBody>
      </p:sp>
    </p:spTree>
    <p:extLst>
      <p:ext uri="{BB962C8B-B14F-4D97-AF65-F5344CB8AC3E}">
        <p14:creationId xmlns:p14="http://schemas.microsoft.com/office/powerpoint/2010/main" val="289625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21E44-C734-82B4-E8F5-ECA219C99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B9B4502-E901-3283-A169-5FEF28576EB6}"/>
              </a:ext>
            </a:extLst>
          </p:cNvPr>
          <p:cNvSpPr txBox="1"/>
          <p:nvPr/>
        </p:nvSpPr>
        <p:spPr>
          <a:xfrm>
            <a:off x="501947" y="581441"/>
            <a:ext cx="1633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4123247-3601-EFF8-3880-36F433B10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46080"/>
              </p:ext>
            </p:extLst>
          </p:nvPr>
        </p:nvGraphicFramePr>
        <p:xfrm>
          <a:off x="4448907" y="30388"/>
          <a:ext cx="7641491" cy="6514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807">
                  <a:extLst>
                    <a:ext uri="{9D8B030D-6E8A-4147-A177-3AD203B41FA5}">
                      <a16:colId xmlns:a16="http://schemas.microsoft.com/office/drawing/2014/main" val="1632636762"/>
                    </a:ext>
                  </a:extLst>
                </a:gridCol>
                <a:gridCol w="587807">
                  <a:extLst>
                    <a:ext uri="{9D8B030D-6E8A-4147-A177-3AD203B41FA5}">
                      <a16:colId xmlns:a16="http://schemas.microsoft.com/office/drawing/2014/main" val="2959554920"/>
                    </a:ext>
                  </a:extLst>
                </a:gridCol>
                <a:gridCol w="587807">
                  <a:extLst>
                    <a:ext uri="{9D8B030D-6E8A-4147-A177-3AD203B41FA5}">
                      <a16:colId xmlns:a16="http://schemas.microsoft.com/office/drawing/2014/main" val="2175389974"/>
                    </a:ext>
                  </a:extLst>
                </a:gridCol>
                <a:gridCol w="587807">
                  <a:extLst>
                    <a:ext uri="{9D8B030D-6E8A-4147-A177-3AD203B41FA5}">
                      <a16:colId xmlns:a16="http://schemas.microsoft.com/office/drawing/2014/main" val="676208218"/>
                    </a:ext>
                  </a:extLst>
                </a:gridCol>
                <a:gridCol w="587807">
                  <a:extLst>
                    <a:ext uri="{9D8B030D-6E8A-4147-A177-3AD203B41FA5}">
                      <a16:colId xmlns:a16="http://schemas.microsoft.com/office/drawing/2014/main" val="1655267164"/>
                    </a:ext>
                  </a:extLst>
                </a:gridCol>
                <a:gridCol w="587807">
                  <a:extLst>
                    <a:ext uri="{9D8B030D-6E8A-4147-A177-3AD203B41FA5}">
                      <a16:colId xmlns:a16="http://schemas.microsoft.com/office/drawing/2014/main" val="377616868"/>
                    </a:ext>
                  </a:extLst>
                </a:gridCol>
                <a:gridCol w="587807">
                  <a:extLst>
                    <a:ext uri="{9D8B030D-6E8A-4147-A177-3AD203B41FA5}">
                      <a16:colId xmlns:a16="http://schemas.microsoft.com/office/drawing/2014/main" val="377190592"/>
                    </a:ext>
                  </a:extLst>
                </a:gridCol>
                <a:gridCol w="587807">
                  <a:extLst>
                    <a:ext uri="{9D8B030D-6E8A-4147-A177-3AD203B41FA5}">
                      <a16:colId xmlns:a16="http://schemas.microsoft.com/office/drawing/2014/main" val="1005757219"/>
                    </a:ext>
                  </a:extLst>
                </a:gridCol>
                <a:gridCol w="587807">
                  <a:extLst>
                    <a:ext uri="{9D8B030D-6E8A-4147-A177-3AD203B41FA5}">
                      <a16:colId xmlns:a16="http://schemas.microsoft.com/office/drawing/2014/main" val="374221299"/>
                    </a:ext>
                  </a:extLst>
                </a:gridCol>
                <a:gridCol w="587807">
                  <a:extLst>
                    <a:ext uri="{9D8B030D-6E8A-4147-A177-3AD203B41FA5}">
                      <a16:colId xmlns:a16="http://schemas.microsoft.com/office/drawing/2014/main" val="2465945324"/>
                    </a:ext>
                  </a:extLst>
                </a:gridCol>
                <a:gridCol w="587807">
                  <a:extLst>
                    <a:ext uri="{9D8B030D-6E8A-4147-A177-3AD203B41FA5}">
                      <a16:colId xmlns:a16="http://schemas.microsoft.com/office/drawing/2014/main" val="3613902121"/>
                    </a:ext>
                  </a:extLst>
                </a:gridCol>
                <a:gridCol w="587807">
                  <a:extLst>
                    <a:ext uri="{9D8B030D-6E8A-4147-A177-3AD203B41FA5}">
                      <a16:colId xmlns:a16="http://schemas.microsoft.com/office/drawing/2014/main" val="1418696702"/>
                    </a:ext>
                  </a:extLst>
                </a:gridCol>
                <a:gridCol w="587807">
                  <a:extLst>
                    <a:ext uri="{9D8B030D-6E8A-4147-A177-3AD203B41FA5}">
                      <a16:colId xmlns:a16="http://schemas.microsoft.com/office/drawing/2014/main" val="2562773399"/>
                    </a:ext>
                  </a:extLst>
                </a:gridCol>
              </a:tblGrid>
              <a:tr h="44144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A7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B7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798061"/>
                  </a:ext>
                </a:extLst>
              </a:tr>
              <a:tr h="44144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25.15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26.17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24.52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33.09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26.6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24.52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25.15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26.17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24.52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33.09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19.2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19.2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27097"/>
                  </a:ext>
                </a:extLst>
              </a:tr>
              <a:tr h="4203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60.55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98631"/>
                  </a:ext>
                </a:extLst>
              </a:tr>
              <a:tr h="4203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60.68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917469"/>
                  </a:ext>
                </a:extLst>
              </a:tr>
              <a:tr h="4203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60.83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513105"/>
                  </a:ext>
                </a:extLst>
              </a:tr>
              <a:tr h="4203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60.76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61.35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746684"/>
                  </a:ext>
                </a:extLst>
              </a:tr>
              <a:tr h="4203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027247"/>
                  </a:ext>
                </a:extLst>
              </a:tr>
              <a:tr h="4203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262156"/>
                  </a:ext>
                </a:extLst>
              </a:tr>
              <a:tr h="3886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61.86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80491"/>
                  </a:ext>
                </a:extLst>
              </a:tr>
              <a:tr h="3886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60.49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63.38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61.7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61.29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35504"/>
                  </a:ext>
                </a:extLst>
              </a:tr>
              <a:tr h="3886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60.72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59.92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61.01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65.52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60.72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60.76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61.38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60.38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313130"/>
                  </a:ext>
                </a:extLst>
              </a:tr>
              <a:tr h="3886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60.72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60.36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59.99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210807"/>
                  </a:ext>
                </a:extLst>
              </a:tr>
              <a:tr h="3886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60.56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59.3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61.58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60.48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60.07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61.61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24898"/>
                  </a:ext>
                </a:extLst>
              </a:tr>
              <a:tr h="3886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58.84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58.33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60.9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58.84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59.15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59.79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61.09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7895"/>
                  </a:ext>
                </a:extLst>
              </a:tr>
              <a:tr h="3886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57.7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58.82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47691"/>
                  </a:ext>
                </a:extLst>
              </a:tr>
              <a:tr h="3886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58.05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55.91</a:t>
                      </a:r>
                      <a:r>
                        <a:rPr lang="zh-TW" altLang="en-US" sz="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66594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0B46AB1B-877E-D948-5974-B3D0720CB10B}"/>
              </a:ext>
            </a:extLst>
          </p:cNvPr>
          <p:cNvSpPr txBox="1"/>
          <p:nvPr/>
        </p:nvSpPr>
        <p:spPr>
          <a:xfrm>
            <a:off x="101597" y="264049"/>
            <a:ext cx="4272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和耀美家雅居 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本週新增 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戶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3040AEA-2BC0-FBE2-5577-E643061B5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945912"/>
              </p:ext>
            </p:extLst>
          </p:nvPr>
        </p:nvGraphicFramePr>
        <p:xfrm>
          <a:off x="46990" y="4168558"/>
          <a:ext cx="432728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719">
                  <a:extLst>
                    <a:ext uri="{9D8B030D-6E8A-4147-A177-3AD203B41FA5}">
                      <a16:colId xmlns:a16="http://schemas.microsoft.com/office/drawing/2014/main" val="3876115257"/>
                    </a:ext>
                  </a:extLst>
                </a:gridCol>
                <a:gridCol w="1135606">
                  <a:extLst>
                    <a:ext uri="{9D8B030D-6E8A-4147-A177-3AD203B41FA5}">
                      <a16:colId xmlns:a16="http://schemas.microsoft.com/office/drawing/2014/main" val="1534726269"/>
                    </a:ext>
                  </a:extLst>
                </a:gridCol>
                <a:gridCol w="1002528">
                  <a:extLst>
                    <a:ext uri="{9D8B030D-6E8A-4147-A177-3AD203B41FA5}">
                      <a16:colId xmlns:a16="http://schemas.microsoft.com/office/drawing/2014/main" val="2493757328"/>
                    </a:ext>
                  </a:extLst>
                </a:gridCol>
                <a:gridCol w="1286428">
                  <a:extLst>
                    <a:ext uri="{9D8B030D-6E8A-4147-A177-3AD203B41FA5}">
                      <a16:colId xmlns:a16="http://schemas.microsoft.com/office/drawing/2014/main" val="3859435701"/>
                    </a:ext>
                  </a:extLst>
                </a:gridCol>
              </a:tblGrid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基地位置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土城區永福段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地號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072258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投資建設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和耀建設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開案時間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114.04.21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99279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建築設計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閤康聯合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建築結構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1712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基地面積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738.84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使用分區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住宅區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325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15F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B5F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008701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規劃戶數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175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公設比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34.5%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777820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139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24~33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4040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房車配比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1:0.79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車位價格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195~250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366842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F2BC32F9-747D-DA0B-C6AD-24D86ED52776}"/>
              </a:ext>
            </a:extLst>
          </p:cNvPr>
          <p:cNvSpPr/>
          <p:nvPr/>
        </p:nvSpPr>
        <p:spPr>
          <a:xfrm>
            <a:off x="9431575" y="6593509"/>
            <a:ext cx="1015204" cy="18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二月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140A2D-8639-D46D-1378-90FF759D0F36}"/>
              </a:ext>
            </a:extLst>
          </p:cNvPr>
          <p:cNvSpPr/>
          <p:nvPr/>
        </p:nvSpPr>
        <p:spPr>
          <a:xfrm>
            <a:off x="10677242" y="6593509"/>
            <a:ext cx="1015204" cy="1874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三月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2B9D9F-012E-9A7C-3278-524A5D1E66C4}"/>
              </a:ext>
            </a:extLst>
          </p:cNvPr>
          <p:cNvSpPr/>
          <p:nvPr/>
        </p:nvSpPr>
        <p:spPr>
          <a:xfrm>
            <a:off x="4448907" y="6593509"/>
            <a:ext cx="1015204" cy="1874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十月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F4069E-F80B-2A0B-243A-61F214452413}"/>
              </a:ext>
            </a:extLst>
          </p:cNvPr>
          <p:cNvSpPr/>
          <p:nvPr/>
        </p:nvSpPr>
        <p:spPr>
          <a:xfrm>
            <a:off x="5694574" y="6593509"/>
            <a:ext cx="1015204" cy="187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十一月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CD0CB7-8B62-A2ED-798C-FFD891426B42}"/>
              </a:ext>
            </a:extLst>
          </p:cNvPr>
          <p:cNvSpPr/>
          <p:nvPr/>
        </p:nvSpPr>
        <p:spPr>
          <a:xfrm>
            <a:off x="6940241" y="6593509"/>
            <a:ext cx="1015204" cy="1874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十二月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戶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849E6303-68E6-5C05-B3AB-83B633A93F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904" t="11628" b="11745"/>
          <a:stretch/>
        </p:blipFill>
        <p:spPr>
          <a:xfrm>
            <a:off x="74293" y="845644"/>
            <a:ext cx="4272674" cy="288559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6B9A2E4-D554-B3B1-52A6-C2A3BDA055F6}"/>
              </a:ext>
            </a:extLst>
          </p:cNvPr>
          <p:cNvSpPr/>
          <p:nvPr/>
        </p:nvSpPr>
        <p:spPr>
          <a:xfrm>
            <a:off x="8185908" y="6593509"/>
            <a:ext cx="1015204" cy="187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一月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戶</a:t>
            </a:r>
          </a:p>
        </p:txBody>
      </p:sp>
    </p:spTree>
    <p:extLst>
      <p:ext uri="{BB962C8B-B14F-4D97-AF65-F5344CB8AC3E}">
        <p14:creationId xmlns:p14="http://schemas.microsoft.com/office/powerpoint/2010/main" val="2438577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21E44-C734-82B4-E8F5-ECA219C99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B9B4502-E901-3283-A169-5FEF28576EB6}"/>
              </a:ext>
            </a:extLst>
          </p:cNvPr>
          <p:cNvSpPr txBox="1"/>
          <p:nvPr/>
        </p:nvSpPr>
        <p:spPr>
          <a:xfrm>
            <a:off x="501947" y="581441"/>
            <a:ext cx="1633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4123247-3601-EFF8-3880-36F433B10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770456"/>
              </p:ext>
            </p:extLst>
          </p:nvPr>
        </p:nvGraphicFramePr>
        <p:xfrm>
          <a:off x="4448907" y="30388"/>
          <a:ext cx="7501744" cy="6332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718">
                  <a:extLst>
                    <a:ext uri="{9D8B030D-6E8A-4147-A177-3AD203B41FA5}">
                      <a16:colId xmlns:a16="http://schemas.microsoft.com/office/drawing/2014/main" val="1632636762"/>
                    </a:ext>
                  </a:extLst>
                </a:gridCol>
                <a:gridCol w="937718">
                  <a:extLst>
                    <a:ext uri="{9D8B030D-6E8A-4147-A177-3AD203B41FA5}">
                      <a16:colId xmlns:a16="http://schemas.microsoft.com/office/drawing/2014/main" val="2959554920"/>
                    </a:ext>
                  </a:extLst>
                </a:gridCol>
                <a:gridCol w="937718">
                  <a:extLst>
                    <a:ext uri="{9D8B030D-6E8A-4147-A177-3AD203B41FA5}">
                      <a16:colId xmlns:a16="http://schemas.microsoft.com/office/drawing/2014/main" val="2175389974"/>
                    </a:ext>
                  </a:extLst>
                </a:gridCol>
                <a:gridCol w="937718">
                  <a:extLst>
                    <a:ext uri="{9D8B030D-6E8A-4147-A177-3AD203B41FA5}">
                      <a16:colId xmlns:a16="http://schemas.microsoft.com/office/drawing/2014/main" val="676208218"/>
                    </a:ext>
                  </a:extLst>
                </a:gridCol>
                <a:gridCol w="937718">
                  <a:extLst>
                    <a:ext uri="{9D8B030D-6E8A-4147-A177-3AD203B41FA5}">
                      <a16:colId xmlns:a16="http://schemas.microsoft.com/office/drawing/2014/main" val="1655267164"/>
                    </a:ext>
                  </a:extLst>
                </a:gridCol>
                <a:gridCol w="937718">
                  <a:extLst>
                    <a:ext uri="{9D8B030D-6E8A-4147-A177-3AD203B41FA5}">
                      <a16:colId xmlns:a16="http://schemas.microsoft.com/office/drawing/2014/main" val="377616868"/>
                    </a:ext>
                  </a:extLst>
                </a:gridCol>
                <a:gridCol w="937718">
                  <a:extLst>
                    <a:ext uri="{9D8B030D-6E8A-4147-A177-3AD203B41FA5}">
                      <a16:colId xmlns:a16="http://schemas.microsoft.com/office/drawing/2014/main" val="377190592"/>
                    </a:ext>
                  </a:extLst>
                </a:gridCol>
                <a:gridCol w="937718">
                  <a:extLst>
                    <a:ext uri="{9D8B030D-6E8A-4147-A177-3AD203B41FA5}">
                      <a16:colId xmlns:a16="http://schemas.microsoft.com/office/drawing/2014/main" val="1005757219"/>
                    </a:ext>
                  </a:extLst>
                </a:gridCol>
              </a:tblGrid>
              <a:tr h="45876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A7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A8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798061"/>
                  </a:ext>
                </a:extLst>
              </a:tr>
              <a:tr h="45876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35.65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25.57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36.49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29.66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36.19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27.19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31.59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27097"/>
                  </a:ext>
                </a:extLst>
              </a:tr>
              <a:tr h="4368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79.42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en-US" altLang="zh-TW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917469"/>
                  </a:ext>
                </a:extLst>
              </a:tr>
              <a:tr h="4368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513105"/>
                  </a:ext>
                </a:extLst>
              </a:tr>
              <a:tr h="4368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746684"/>
                  </a:ext>
                </a:extLst>
              </a:tr>
              <a:tr h="4368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027247"/>
                  </a:ext>
                </a:extLst>
              </a:tr>
              <a:tr h="4368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262156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8049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77.29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355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31313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210807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77.34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24898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73.25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7895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71.74萬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75.85萬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71.28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en-US" altLang="zh-TW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72.99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4769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74.21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72.24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en-US" altLang="zh-TW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72.44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66594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0B46AB1B-877E-D948-5974-B3D0720CB10B}"/>
              </a:ext>
            </a:extLst>
          </p:cNvPr>
          <p:cNvSpPr txBox="1"/>
          <p:nvPr/>
        </p:nvSpPr>
        <p:spPr>
          <a:xfrm>
            <a:off x="241349" y="264049"/>
            <a:ext cx="3061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迴東騰 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本週新增 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戶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3040AEA-2BC0-FBE2-5577-E643061B5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019778"/>
              </p:ext>
            </p:extLst>
          </p:nvPr>
        </p:nvGraphicFramePr>
        <p:xfrm>
          <a:off x="46990" y="4168558"/>
          <a:ext cx="432728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719">
                  <a:extLst>
                    <a:ext uri="{9D8B030D-6E8A-4147-A177-3AD203B41FA5}">
                      <a16:colId xmlns:a16="http://schemas.microsoft.com/office/drawing/2014/main" val="3876115257"/>
                    </a:ext>
                  </a:extLst>
                </a:gridCol>
                <a:gridCol w="1135606">
                  <a:extLst>
                    <a:ext uri="{9D8B030D-6E8A-4147-A177-3AD203B41FA5}">
                      <a16:colId xmlns:a16="http://schemas.microsoft.com/office/drawing/2014/main" val="1534726269"/>
                    </a:ext>
                  </a:extLst>
                </a:gridCol>
                <a:gridCol w="1002528">
                  <a:extLst>
                    <a:ext uri="{9D8B030D-6E8A-4147-A177-3AD203B41FA5}">
                      <a16:colId xmlns:a16="http://schemas.microsoft.com/office/drawing/2014/main" val="2493757328"/>
                    </a:ext>
                  </a:extLst>
                </a:gridCol>
                <a:gridCol w="1286428">
                  <a:extLst>
                    <a:ext uri="{9D8B030D-6E8A-4147-A177-3AD203B41FA5}">
                      <a16:colId xmlns:a16="http://schemas.microsoft.com/office/drawing/2014/main" val="3859435701"/>
                    </a:ext>
                  </a:extLst>
                </a:gridCol>
              </a:tblGrid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基地位置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土城區永福段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地號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072258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投資建設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東峻建設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開案時間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114.10.03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99279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建築設計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邱垂睿、趙奕翔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建築結構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1712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基地面積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562.07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使用分區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住宅區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325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14F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008701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規劃戶數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公設比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35%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777820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95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25~36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4040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房車配比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1:1.05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車位價格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366842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F2BC32F9-747D-DA0B-C6AD-24D86ED52776}"/>
              </a:ext>
            </a:extLst>
          </p:cNvPr>
          <p:cNvSpPr/>
          <p:nvPr/>
        </p:nvSpPr>
        <p:spPr>
          <a:xfrm>
            <a:off x="9431575" y="6466713"/>
            <a:ext cx="1015204" cy="18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二月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2B9D9F-012E-9A7C-3278-524A5D1E66C4}"/>
              </a:ext>
            </a:extLst>
          </p:cNvPr>
          <p:cNvSpPr/>
          <p:nvPr/>
        </p:nvSpPr>
        <p:spPr>
          <a:xfrm>
            <a:off x="4448907" y="6469812"/>
            <a:ext cx="1015204" cy="1874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十月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F4069E-F80B-2A0B-243A-61F214452413}"/>
              </a:ext>
            </a:extLst>
          </p:cNvPr>
          <p:cNvSpPr/>
          <p:nvPr/>
        </p:nvSpPr>
        <p:spPr>
          <a:xfrm>
            <a:off x="5694574" y="6469812"/>
            <a:ext cx="1015204" cy="187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十一月:  4戶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CD0CB7-8B62-A2ED-798C-FFD891426B42}"/>
              </a:ext>
            </a:extLst>
          </p:cNvPr>
          <p:cNvSpPr/>
          <p:nvPr/>
        </p:nvSpPr>
        <p:spPr>
          <a:xfrm>
            <a:off x="6940241" y="6469812"/>
            <a:ext cx="1015204" cy="1874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十二月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戶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B343E65-7890-1610-9710-ABA4AA188A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5" t="7216" r="28273" b="6123"/>
          <a:stretch/>
        </p:blipFill>
        <p:spPr>
          <a:xfrm>
            <a:off x="241351" y="694467"/>
            <a:ext cx="3808135" cy="330018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8FCF4DD-8B3E-FB61-5332-C340B7ACCDAC}"/>
              </a:ext>
            </a:extLst>
          </p:cNvPr>
          <p:cNvSpPr/>
          <p:nvPr/>
        </p:nvSpPr>
        <p:spPr>
          <a:xfrm>
            <a:off x="8185908" y="6466713"/>
            <a:ext cx="1015204" cy="187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一月: 4戶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211628-0A74-781C-95D6-01578EB0B0B7}"/>
              </a:ext>
            </a:extLst>
          </p:cNvPr>
          <p:cNvSpPr/>
          <p:nvPr/>
        </p:nvSpPr>
        <p:spPr>
          <a:xfrm>
            <a:off x="10677242" y="6466713"/>
            <a:ext cx="1015204" cy="1874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三月:  1戶</a:t>
            </a:r>
          </a:p>
        </p:txBody>
      </p:sp>
    </p:spTree>
    <p:extLst>
      <p:ext uri="{BB962C8B-B14F-4D97-AF65-F5344CB8AC3E}">
        <p14:creationId xmlns:p14="http://schemas.microsoft.com/office/powerpoint/2010/main" val="2016683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21E44-C734-82B4-E8F5-ECA219C99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B9B4502-E901-3283-A169-5FEF28576EB6}"/>
              </a:ext>
            </a:extLst>
          </p:cNvPr>
          <p:cNvSpPr txBox="1"/>
          <p:nvPr/>
        </p:nvSpPr>
        <p:spPr>
          <a:xfrm>
            <a:off x="501947" y="581441"/>
            <a:ext cx="1633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4123247-3601-EFF8-3880-36F433B10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719081"/>
              </p:ext>
            </p:extLst>
          </p:nvPr>
        </p:nvGraphicFramePr>
        <p:xfrm>
          <a:off x="4448907" y="173174"/>
          <a:ext cx="7641500" cy="619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150">
                  <a:extLst>
                    <a:ext uri="{9D8B030D-6E8A-4147-A177-3AD203B41FA5}">
                      <a16:colId xmlns:a16="http://schemas.microsoft.com/office/drawing/2014/main" val="1632636762"/>
                    </a:ext>
                  </a:extLst>
                </a:gridCol>
                <a:gridCol w="764150">
                  <a:extLst>
                    <a:ext uri="{9D8B030D-6E8A-4147-A177-3AD203B41FA5}">
                      <a16:colId xmlns:a16="http://schemas.microsoft.com/office/drawing/2014/main" val="2959554920"/>
                    </a:ext>
                  </a:extLst>
                </a:gridCol>
                <a:gridCol w="764150">
                  <a:extLst>
                    <a:ext uri="{9D8B030D-6E8A-4147-A177-3AD203B41FA5}">
                      <a16:colId xmlns:a16="http://schemas.microsoft.com/office/drawing/2014/main" val="2175389974"/>
                    </a:ext>
                  </a:extLst>
                </a:gridCol>
                <a:gridCol w="764150">
                  <a:extLst>
                    <a:ext uri="{9D8B030D-6E8A-4147-A177-3AD203B41FA5}">
                      <a16:colId xmlns:a16="http://schemas.microsoft.com/office/drawing/2014/main" val="676208218"/>
                    </a:ext>
                  </a:extLst>
                </a:gridCol>
                <a:gridCol w="764150">
                  <a:extLst>
                    <a:ext uri="{9D8B030D-6E8A-4147-A177-3AD203B41FA5}">
                      <a16:colId xmlns:a16="http://schemas.microsoft.com/office/drawing/2014/main" val="1655267164"/>
                    </a:ext>
                  </a:extLst>
                </a:gridCol>
                <a:gridCol w="764150">
                  <a:extLst>
                    <a:ext uri="{9D8B030D-6E8A-4147-A177-3AD203B41FA5}">
                      <a16:colId xmlns:a16="http://schemas.microsoft.com/office/drawing/2014/main" val="377616868"/>
                    </a:ext>
                  </a:extLst>
                </a:gridCol>
                <a:gridCol w="764150">
                  <a:extLst>
                    <a:ext uri="{9D8B030D-6E8A-4147-A177-3AD203B41FA5}">
                      <a16:colId xmlns:a16="http://schemas.microsoft.com/office/drawing/2014/main" val="377190592"/>
                    </a:ext>
                  </a:extLst>
                </a:gridCol>
                <a:gridCol w="764150">
                  <a:extLst>
                    <a:ext uri="{9D8B030D-6E8A-4147-A177-3AD203B41FA5}">
                      <a16:colId xmlns:a16="http://schemas.microsoft.com/office/drawing/2014/main" val="1005757219"/>
                    </a:ext>
                  </a:extLst>
                </a:gridCol>
                <a:gridCol w="764150">
                  <a:extLst>
                    <a:ext uri="{9D8B030D-6E8A-4147-A177-3AD203B41FA5}">
                      <a16:colId xmlns:a16="http://schemas.microsoft.com/office/drawing/2014/main" val="374221299"/>
                    </a:ext>
                  </a:extLst>
                </a:gridCol>
                <a:gridCol w="764150">
                  <a:extLst>
                    <a:ext uri="{9D8B030D-6E8A-4147-A177-3AD203B41FA5}">
                      <a16:colId xmlns:a16="http://schemas.microsoft.com/office/drawing/2014/main" val="2465945324"/>
                    </a:ext>
                  </a:extLst>
                </a:gridCol>
              </a:tblGrid>
              <a:tr h="619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A7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A8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A9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A10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798061"/>
                  </a:ext>
                </a:extLst>
              </a:tr>
              <a:tr h="619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16.74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16.74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16.74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16.74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16.74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27097"/>
                  </a:ext>
                </a:extLst>
              </a:tr>
              <a:tr h="5900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262156"/>
                  </a:ext>
                </a:extLst>
              </a:tr>
              <a:tr h="5454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80491"/>
                  </a:ext>
                </a:extLst>
              </a:tr>
              <a:tr h="5454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74.36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35504"/>
                  </a:ext>
                </a:extLst>
              </a:tr>
              <a:tr h="5454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313130"/>
                  </a:ext>
                </a:extLst>
              </a:tr>
              <a:tr h="5454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210807"/>
                  </a:ext>
                </a:extLst>
              </a:tr>
              <a:tr h="5454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73.46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24898"/>
                  </a:ext>
                </a:extLst>
              </a:tr>
              <a:tr h="5454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7895"/>
                  </a:ext>
                </a:extLst>
              </a:tr>
              <a:tr h="5454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72.86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47691"/>
                  </a:ext>
                </a:extLst>
              </a:tr>
              <a:tr h="5454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66594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0B46AB1B-877E-D948-5974-B3D0720CB10B}"/>
              </a:ext>
            </a:extLst>
          </p:cNvPr>
          <p:cNvSpPr txBox="1"/>
          <p:nvPr/>
        </p:nvSpPr>
        <p:spPr>
          <a:xfrm>
            <a:off x="101597" y="264049"/>
            <a:ext cx="4272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天好運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本週新增 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戶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3040AEA-2BC0-FBE2-5577-E643061B56F5}"/>
              </a:ext>
            </a:extLst>
          </p:cNvPr>
          <p:cNvGraphicFramePr>
            <a:graphicFrameLocks noGrp="1"/>
          </p:cNvGraphicFramePr>
          <p:nvPr/>
        </p:nvGraphicFramePr>
        <p:xfrm>
          <a:off x="46990" y="4168558"/>
          <a:ext cx="432728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719">
                  <a:extLst>
                    <a:ext uri="{9D8B030D-6E8A-4147-A177-3AD203B41FA5}">
                      <a16:colId xmlns:a16="http://schemas.microsoft.com/office/drawing/2014/main" val="3876115257"/>
                    </a:ext>
                  </a:extLst>
                </a:gridCol>
                <a:gridCol w="1135606">
                  <a:extLst>
                    <a:ext uri="{9D8B030D-6E8A-4147-A177-3AD203B41FA5}">
                      <a16:colId xmlns:a16="http://schemas.microsoft.com/office/drawing/2014/main" val="1534726269"/>
                    </a:ext>
                  </a:extLst>
                </a:gridCol>
                <a:gridCol w="1002528">
                  <a:extLst>
                    <a:ext uri="{9D8B030D-6E8A-4147-A177-3AD203B41FA5}">
                      <a16:colId xmlns:a16="http://schemas.microsoft.com/office/drawing/2014/main" val="2493757328"/>
                    </a:ext>
                  </a:extLst>
                </a:gridCol>
                <a:gridCol w="1286428">
                  <a:extLst>
                    <a:ext uri="{9D8B030D-6E8A-4147-A177-3AD203B41FA5}">
                      <a16:colId xmlns:a16="http://schemas.microsoft.com/office/drawing/2014/main" val="3859435701"/>
                    </a:ext>
                  </a:extLst>
                </a:gridCol>
              </a:tblGrid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基地位置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土城區永福段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地號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072258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投資建設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福美國際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開案時間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115.03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99279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建築設計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興聖建築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建築結構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1712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基地面積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325.89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使用分區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住宅區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325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10F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B3F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008701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規劃戶數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公設比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35.4%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777820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16~23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4040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房車配比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1:0.46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車位價格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230~260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36684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6E140A2D-8639-D46D-1378-90FF759D0F36}"/>
              </a:ext>
            </a:extLst>
          </p:cNvPr>
          <p:cNvSpPr/>
          <p:nvPr/>
        </p:nvSpPr>
        <p:spPr>
          <a:xfrm>
            <a:off x="4448907" y="6497378"/>
            <a:ext cx="1015204" cy="1874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三月:  3戶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D9706D6-2A99-6F15-E021-AE500655B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85" y="998893"/>
            <a:ext cx="3982295" cy="270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102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21E44-C734-82B4-E8F5-ECA219C99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B9B4502-E901-3283-A169-5FEF28576EB6}"/>
              </a:ext>
            </a:extLst>
          </p:cNvPr>
          <p:cNvSpPr txBox="1"/>
          <p:nvPr/>
        </p:nvSpPr>
        <p:spPr>
          <a:xfrm>
            <a:off x="501947" y="581441"/>
            <a:ext cx="1633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4123247-3601-EFF8-3880-36F433B10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540975"/>
              </p:ext>
            </p:extLst>
          </p:nvPr>
        </p:nvGraphicFramePr>
        <p:xfrm>
          <a:off x="4448907" y="30388"/>
          <a:ext cx="7641498" cy="6514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583">
                  <a:extLst>
                    <a:ext uri="{9D8B030D-6E8A-4147-A177-3AD203B41FA5}">
                      <a16:colId xmlns:a16="http://schemas.microsoft.com/office/drawing/2014/main" val="1632636762"/>
                    </a:ext>
                  </a:extLst>
                </a:gridCol>
                <a:gridCol w="1273583">
                  <a:extLst>
                    <a:ext uri="{9D8B030D-6E8A-4147-A177-3AD203B41FA5}">
                      <a16:colId xmlns:a16="http://schemas.microsoft.com/office/drawing/2014/main" val="2959554920"/>
                    </a:ext>
                  </a:extLst>
                </a:gridCol>
                <a:gridCol w="1273583">
                  <a:extLst>
                    <a:ext uri="{9D8B030D-6E8A-4147-A177-3AD203B41FA5}">
                      <a16:colId xmlns:a16="http://schemas.microsoft.com/office/drawing/2014/main" val="2175389974"/>
                    </a:ext>
                  </a:extLst>
                </a:gridCol>
                <a:gridCol w="1273583">
                  <a:extLst>
                    <a:ext uri="{9D8B030D-6E8A-4147-A177-3AD203B41FA5}">
                      <a16:colId xmlns:a16="http://schemas.microsoft.com/office/drawing/2014/main" val="676208218"/>
                    </a:ext>
                  </a:extLst>
                </a:gridCol>
                <a:gridCol w="1273583">
                  <a:extLst>
                    <a:ext uri="{9D8B030D-6E8A-4147-A177-3AD203B41FA5}">
                      <a16:colId xmlns:a16="http://schemas.microsoft.com/office/drawing/2014/main" val="1655267164"/>
                    </a:ext>
                  </a:extLst>
                </a:gridCol>
                <a:gridCol w="1273583">
                  <a:extLst>
                    <a:ext uri="{9D8B030D-6E8A-4147-A177-3AD203B41FA5}">
                      <a16:colId xmlns:a16="http://schemas.microsoft.com/office/drawing/2014/main" val="377616868"/>
                    </a:ext>
                  </a:extLst>
                </a:gridCol>
              </a:tblGrid>
              <a:tr h="44144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A2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A3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A5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A6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798061"/>
                  </a:ext>
                </a:extLst>
              </a:tr>
              <a:tr h="44144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28.8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30.9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26.8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27.8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27097"/>
                  </a:ext>
                </a:extLst>
              </a:tr>
              <a:tr h="4203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98631"/>
                  </a:ext>
                </a:extLst>
              </a:tr>
              <a:tr h="4203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917469"/>
                  </a:ext>
                </a:extLst>
              </a:tr>
              <a:tr h="4203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513105"/>
                  </a:ext>
                </a:extLst>
              </a:tr>
              <a:tr h="4203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72.54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746684"/>
                  </a:ext>
                </a:extLst>
              </a:tr>
              <a:tr h="4203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71.07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71.80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75.90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027247"/>
                  </a:ext>
                </a:extLst>
              </a:tr>
              <a:tr h="42037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71.90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262156"/>
                  </a:ext>
                </a:extLst>
              </a:tr>
              <a:tr h="3886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80491"/>
                  </a:ext>
                </a:extLst>
              </a:tr>
              <a:tr h="3886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71.37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35504"/>
                  </a:ext>
                </a:extLst>
              </a:tr>
              <a:tr h="3886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68.38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313130"/>
                  </a:ext>
                </a:extLst>
              </a:tr>
              <a:tr h="3886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67.63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68.68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210807"/>
                  </a:ext>
                </a:extLst>
              </a:tr>
              <a:tr h="3886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69.29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67.56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68.13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24898"/>
                  </a:ext>
                </a:extLst>
              </a:tr>
              <a:tr h="3886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67.52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7895"/>
                  </a:ext>
                </a:extLst>
              </a:tr>
              <a:tr h="3886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67.36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47691"/>
                  </a:ext>
                </a:extLst>
              </a:tr>
              <a:tr h="3886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(42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(41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66594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0B46AB1B-877E-D948-5974-B3D0720CB10B}"/>
              </a:ext>
            </a:extLst>
          </p:cNvPr>
          <p:cNvSpPr txBox="1"/>
          <p:nvPr/>
        </p:nvSpPr>
        <p:spPr>
          <a:xfrm>
            <a:off x="101597" y="264049"/>
            <a:ext cx="4272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若水秧翠 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本週新增 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戶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3040AEA-2BC0-FBE2-5577-E643061B5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431018"/>
              </p:ext>
            </p:extLst>
          </p:nvPr>
        </p:nvGraphicFramePr>
        <p:xfrm>
          <a:off x="46990" y="4168558"/>
          <a:ext cx="432728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719">
                  <a:extLst>
                    <a:ext uri="{9D8B030D-6E8A-4147-A177-3AD203B41FA5}">
                      <a16:colId xmlns:a16="http://schemas.microsoft.com/office/drawing/2014/main" val="3876115257"/>
                    </a:ext>
                  </a:extLst>
                </a:gridCol>
                <a:gridCol w="1135606">
                  <a:extLst>
                    <a:ext uri="{9D8B030D-6E8A-4147-A177-3AD203B41FA5}">
                      <a16:colId xmlns:a16="http://schemas.microsoft.com/office/drawing/2014/main" val="1534726269"/>
                    </a:ext>
                  </a:extLst>
                </a:gridCol>
                <a:gridCol w="1002528">
                  <a:extLst>
                    <a:ext uri="{9D8B030D-6E8A-4147-A177-3AD203B41FA5}">
                      <a16:colId xmlns:a16="http://schemas.microsoft.com/office/drawing/2014/main" val="2493757328"/>
                    </a:ext>
                  </a:extLst>
                </a:gridCol>
                <a:gridCol w="1286428">
                  <a:extLst>
                    <a:ext uri="{9D8B030D-6E8A-4147-A177-3AD203B41FA5}">
                      <a16:colId xmlns:a16="http://schemas.microsoft.com/office/drawing/2014/main" val="3859435701"/>
                    </a:ext>
                  </a:extLst>
                </a:gridCol>
              </a:tblGrid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基地位置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土城區永福段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地號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072258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投資建設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若水環境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開案時間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115.03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99279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建築設計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大心、丹下建築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建築結構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1712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基地面積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411.53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使用分區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住宅區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32575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樓層規劃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14F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B3F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008701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規劃戶數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公設比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35%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777820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坪數規劃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20~41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40406"/>
                  </a:ext>
                </a:extLst>
              </a:tr>
              <a:tr h="1488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房車配比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1:0.72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車位價格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230~260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36684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6E140A2D-8639-D46D-1378-90FF759D0F36}"/>
              </a:ext>
            </a:extLst>
          </p:cNvPr>
          <p:cNvSpPr/>
          <p:nvPr/>
        </p:nvSpPr>
        <p:spPr>
          <a:xfrm>
            <a:off x="4448907" y="6609769"/>
            <a:ext cx="1015204" cy="1874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三月:  14戶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DE7FCD12-DDEC-36D3-AA78-BD0C40672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22819" y="262397"/>
            <a:ext cx="2850257" cy="432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612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4453</TotalTime>
  <Words>4343</Words>
  <Application>Microsoft Office PowerPoint</Application>
  <PresentationFormat>寬螢幕</PresentationFormat>
  <Paragraphs>2205</Paragraphs>
  <Slides>19</Slides>
  <Notes>13</Notes>
  <HiddenSlides>2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dxb71</dc:creator>
  <cp:lastModifiedBy>BLUE</cp:lastModifiedBy>
  <cp:revision>65</cp:revision>
  <cp:lastPrinted>2025-10-12T10:49:24Z</cp:lastPrinted>
  <dcterms:created xsi:type="dcterms:W3CDTF">2025-06-22T01:29:45Z</dcterms:created>
  <dcterms:modified xsi:type="dcterms:W3CDTF">2026-05-10T06:50:45Z</dcterms:modified>
</cp:coreProperties>
</file>